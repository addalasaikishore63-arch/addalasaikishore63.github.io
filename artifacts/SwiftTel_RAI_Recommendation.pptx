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620ef75a22488a" /><Relationship Type="http://schemas.openxmlformats.org/officeDocument/2006/relationships/extended-properties" Target="/docProps/app.xml" Id="Rc539c615993d4076" /><Relationship Type="http://schemas.openxmlformats.org/officeDocument/2006/relationships/officeDocument" Target="/ppt/presentation.xml" Id="Rd0a986b110024596" /></Relationships>
</file>

<file path=ppt/presentation.xml><?xml version="1.0" encoding="utf-8"?>
<p:presentation xmlns:p="http://schemas.openxmlformats.org/presentationml/2006/main">
  <p:sldMasterIdLst>
    <p:sldMasterId xmlns:r="http://schemas.openxmlformats.org/officeDocument/2006/relationships" id="2147483648" r:id="R06594d5b29b140f4"/>
  </p:sldMasterIdLst>
  <p:notesMasterIdLst>
    <p:notesMasterId xmlns:r="http://schemas.openxmlformats.org/officeDocument/2006/relationships" r:id="Rfb6356055db54d42"/>
  </p:notesMasterIdLst>
  <p:sldIdLst>
    <p:sldId xmlns:r="http://schemas.openxmlformats.org/officeDocument/2006/relationships" id="256" r:id="R59eb70d2da4a489a"/>
    <p:sldId xmlns:r="http://schemas.openxmlformats.org/officeDocument/2006/relationships" id="257" r:id="R5695f218d78049f5"/>
    <p:sldId xmlns:r="http://schemas.openxmlformats.org/officeDocument/2006/relationships" id="258" r:id="Ra43e6e9c927c41ba"/>
    <p:sldId xmlns:r="http://schemas.openxmlformats.org/officeDocument/2006/relationships" id="259" r:id="R2ab12b8231094f94"/>
    <p:sldId xmlns:r="http://schemas.openxmlformats.org/officeDocument/2006/relationships" id="260" r:id="Rf9791f27440a408a"/>
    <p:sldId xmlns:r="http://schemas.openxmlformats.org/officeDocument/2006/relationships" id="261" r:id="R66c43b0131294670"/>
    <p:sldId xmlns:r="http://schemas.openxmlformats.org/officeDocument/2006/relationships" id="262" r:id="Re85786e4850342aa"/>
    <p:sldId xmlns:r="http://schemas.openxmlformats.org/officeDocument/2006/relationships" id="263" r:id="R342ed4738090439d"/>
    <p:sldId xmlns:r="http://schemas.openxmlformats.org/officeDocument/2006/relationships" id="264" r:id="Rb30e63b8b5d84f0a"/>
    <p:sldId xmlns:r="http://schemas.openxmlformats.org/officeDocument/2006/relationships" id="265" r:id="R7fd003ba4f88455f"/>
    <p:sldId xmlns:r="http://schemas.openxmlformats.org/officeDocument/2006/relationships" id="266" r:id="R3c56c3c01dfa4676"/>
    <p:sldId xmlns:r="http://schemas.openxmlformats.org/officeDocument/2006/relationships" id="267" r:id="R8934bf2217944f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406ec549424c80" /><Relationship Type="http://schemas.openxmlformats.org/officeDocument/2006/relationships/slideMaster" Target="/ppt/slideMasters/slideMaster1.xml" Id="R06594d5b29b140f4" /><Relationship Type="http://schemas.openxmlformats.org/officeDocument/2006/relationships/notesMaster" Target="/ppt/notesMasters/notesMaster1.xml" Id="Rfb6356055db54d42" /><Relationship Type="http://schemas.openxmlformats.org/officeDocument/2006/relationships/presProps" Target="/ppt/presProps.xml" Id="R5598e073b6134ac9" /><Relationship Type="http://schemas.openxmlformats.org/officeDocument/2006/relationships/tableStyles" Target="/ppt/tableStyles.xml" Id="R3f937ebafd9742cf" /><Relationship Type="http://schemas.openxmlformats.org/officeDocument/2006/relationships/slide" Target="/ppt/slides/slide1.xml" Id="R59eb70d2da4a489a" /><Relationship Type="http://schemas.openxmlformats.org/officeDocument/2006/relationships/slide" Target="/ppt/slides/slide2.xml" Id="R5695f218d78049f5" /><Relationship Type="http://schemas.openxmlformats.org/officeDocument/2006/relationships/slide" Target="/ppt/slides/slide3.xml" Id="Ra43e6e9c927c41ba" /><Relationship Type="http://schemas.openxmlformats.org/officeDocument/2006/relationships/slide" Target="/ppt/slides/slide4.xml" Id="R2ab12b8231094f94" /><Relationship Type="http://schemas.openxmlformats.org/officeDocument/2006/relationships/slide" Target="/ppt/slides/slide5.xml" Id="Rf9791f27440a408a" /><Relationship Type="http://schemas.openxmlformats.org/officeDocument/2006/relationships/slide" Target="/ppt/slides/slide6.xml" Id="R66c43b0131294670" /><Relationship Type="http://schemas.openxmlformats.org/officeDocument/2006/relationships/slide" Target="/ppt/slides/slide7.xml" Id="Re85786e4850342aa" /><Relationship Type="http://schemas.openxmlformats.org/officeDocument/2006/relationships/slide" Target="/ppt/slides/slide8.xml" Id="R342ed4738090439d" /><Relationship Type="http://schemas.openxmlformats.org/officeDocument/2006/relationships/slide" Target="/ppt/slides/slide9.xml" Id="Rb30e63b8b5d84f0a" /><Relationship Type="http://schemas.openxmlformats.org/officeDocument/2006/relationships/slide" Target="/ppt/slides/slide10.xml" Id="R7fd003ba4f88455f" /><Relationship Type="http://schemas.openxmlformats.org/officeDocument/2006/relationships/slide" Target="/ppt/slides/slide11.xml" Id="R3c56c3c01dfa4676" /><Relationship Type="http://schemas.openxmlformats.org/officeDocument/2006/relationships/slide" Target="/ppt/slides/slide12.xml" Id="R8934bf2217944f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4e9a75f89947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66b72c4ac34185" /><Relationship Type="http://schemas.openxmlformats.org/officeDocument/2006/relationships/notesMaster" Target="/ppt/notesMasters/notesMaster1.xml" Id="Rfa58c6f973794e4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763f5c46464535" /><Relationship Type="http://schemas.openxmlformats.org/officeDocument/2006/relationships/notesMaster" Target="/ppt/notesMasters/notesMaster1.xml" Id="Rb9915689e15546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ac0299b2b44df3" /><Relationship Type="http://schemas.openxmlformats.org/officeDocument/2006/relationships/notesMaster" Target="/ppt/notesMasters/notesMaster1.xml" Id="R2ce4ba60ca0c4a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ca63940cd24622" /><Relationship Type="http://schemas.openxmlformats.org/officeDocument/2006/relationships/notesMaster" Target="/ppt/notesMasters/notesMaster1.xml" Id="Refc09ddc64e642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acff91185b47cb" /><Relationship Type="http://schemas.openxmlformats.org/officeDocument/2006/relationships/notesMaster" Target="/ppt/notesMasters/notesMaster1.xml" Id="R4519d39cb75147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9fc7fdb47c4b38" /><Relationship Type="http://schemas.openxmlformats.org/officeDocument/2006/relationships/notesMaster" Target="/ppt/notesMasters/notesMaster1.xml" Id="R1d139d26a08d4a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d9b66861b24bd5" /><Relationship Type="http://schemas.openxmlformats.org/officeDocument/2006/relationships/notesMaster" Target="/ppt/notesMasters/notesMaster1.xml" Id="R5c04abc6837647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73e98358ec4b15" /><Relationship Type="http://schemas.openxmlformats.org/officeDocument/2006/relationships/notesMaster" Target="/ppt/notesMasters/notesMaster1.xml" Id="Redc6766ea0fe4c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cc6b57cd86477b" /><Relationship Type="http://schemas.openxmlformats.org/officeDocument/2006/relationships/notesMaster" Target="/ppt/notesMasters/notesMaster1.xml" Id="R9ee64bb1dec54f4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bb083ecc4f04235" /><Relationship Type="http://schemas.openxmlformats.org/officeDocument/2006/relationships/notesMaster" Target="/ppt/notesMasters/notesMaster1.xml" Id="R423a679616e246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a784e4bc0a4dad" /><Relationship Type="http://schemas.openxmlformats.org/officeDocument/2006/relationships/notesMaster" Target="/ppt/notesMasters/notesMaster1.xml" Id="Rd569e907eb3a4a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a27620c6bf441d" /><Relationship Type="http://schemas.openxmlformats.org/officeDocument/2006/relationships/notesMaster" Target="/ppt/notesMasters/notesMaster1.xml" Id="Rc16afa1a341846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cost, satisfaction, layoff or error outcomes were supplied. Potential impacts in this analysis are forecasts, not reported SwiftTel results. The grading rubric and the student’s prior framework were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RAI framework for this case: dignity, fairness, reliability, privacy, transparency and accountability. Map these considerations to the student’s established framework before final submission if its terminology differs. https://www.usccb.org/beliefs-and-teachings/what-we-believe/catholic-social-teaching/the-dignity-of-work-and-the-rights-of-workers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https://www.gartner.com/en/newsroom/press-releases/2025-03-25-gartner-says-cfos-should-reset-expectations-about-ais-impact-on-workforce-productivity-and-headcount</a:t>
            </a:r>
          </a:p>
          <a:p xmlns:a="http://schemas.openxmlformats.org/drawingml/2006/main">
            <a:r>
              <a:t>Gartner (2025) cautions that productivity and headcount benefits depend on context and workflow redesign. All SwiftTel costs and benefits above are potential effects, not observed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Qualitative risk assessment based on plausible harms and broad exposure, without SwiftTel incident data. Three failed attempts can delay help. Fully automated service also creates accountability and appeal gaps. https://www.usccb.org/beliefs-and-teachings/what-we-believe/catholic-social-teaching/the-dignity-of-work-and-the-rights-of-workers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Mollick describes centaur work as a division of labor and cyborg work as close integration within tasks. SwiftTel examples and recommendation are applications of these ideas, not findings from the consulting study. https://www.oneusefulthing.org/p/centaurs-and-cyborgs-on-the-jagged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https://www.oneusefulthing.org/p/centaurs-and-cyborgs-on-the-jagged</a:t>
            </a:r>
          </a:p>
          <a:p xmlns:a="http://schemas.openxmlformats.org/drawingml/2006/main">
            <a:r>
              <a:t>https://www.gartner.com/en/newsroom/press-releases/2025-03-25-gartner-says-cfos-should-reset-expectations-about-ais-impact-on-workforce-productivity-and-headcount</a:t>
            </a:r>
          </a:p>
          <a:p xmlns:a="http://schemas.openxmlformats.org/drawingml/2006/main">
            <a:r>
              <a:t>Potential benefits depend on task suitability and pilot evidence. Consulting findings do not establish SwiftTel productivity gains.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Mollick (2023) describes overreliance and worse performance on a task outside AI capability. Recommended controls are SwiftTel-specific proposals. Privacy and fairness risks remain in teaming. https://www.oneusefulthing.org/p/centaurs-and-cyborgs-on-the-jagged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is the author’s judgment. AI performance varies by task, productivity gains are uncertain, and worker dignity creates responsibilities beyond cost reduction. Use approved tools for actions rather than letting the language model directly execute arbitrary account changes. https://www.usccb.org/beliefs-and-teachings/what-we-believe/catholic-social-teaching/the-dignity-of-work-and-the-rights-of-workers</a:t>
            </a:r>
          </a:p>
          <a:p xmlns:a="http://schemas.openxmlformats.org/drawingml/2006/main">
            <a:r>
              <a:t>https://www.oneusefulthing.org/p/centaurs-and-cyborgs-on-the-jagged</a:t>
            </a:r>
          </a:p>
          <a:p xmlns:a="http://schemas.openxmlformats.org/drawingml/2006/main">
            <a:r>
              <a:t>https://www.gartner.com/en/newsroom/press-releases/2025-03-25-gartner-says-cfos-should-reset-expectations-about-ais-impact-on-workforce-productivity-and-headcount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Paid reskilling and redeployment implement the dignity-of-work principle. Consult employees and their representatives about workload and role changes. Maintain accessible training and evaluate skill acquisition. https://www.usccb.org/beliefs-and-teachings/what-we-believe/catholic-social-teaching/the-dignity-of-work-and-the-rights-of-workers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RAI committee must approve quantitative thresholds before the pilot and consider uncertainty. Quality lead audits a sample weekly. Engineering tests policy and model updates, monitors drift and maintains rollback and human fallback. Customer service owns appeals and remedies.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APA 7 web references. Titles should appear in italics in formatted reference lists. References support the analysis and the short source citations on relevant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84353d59d4428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39fdba0f24c4b6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c41ea4526744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d427ee5076346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b52d3c4dc54b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de6f1f61e084c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5191957-475B-4BDA-9A8D-D21953D0424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DFC38F3-3245-4096-99AA-9D247654DD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6090AA7-5FDC-48B1-BB02-7D2AA7BCAF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1A48C39-8585-48D0-A4B4-17969ADE59C6}"/>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C55D2349-B0ED-4F55-BE8F-03E0A1C84E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135EB6A-444A-42A9-9D7F-598D43D65C6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5D7CC27-CF41-47D1-BAB6-50E77D183C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B893A38-CB01-4FDE-80EB-6D7C358E9D1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EBF8A855-AD55-4ACE-9EF4-7CAE9E7E1C0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8AFED53-9583-435F-B601-BE7F93D4AE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B442186-E913-48B8-A6E5-419D4D980C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DD957216-7C9D-4B3B-941E-6CD958D03A7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E367108-8FB8-4C27-ADAA-931154A983B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2F249E3-CE31-412B-8C67-4E0285AA31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DD55F2B-8315-48C8-8C99-2DB8379583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9d606507ab4b15" /><Relationship Type="http://schemas.openxmlformats.org/officeDocument/2006/relationships/slideLayout" Target="/ppt/slideLayouts/slideLayout1.xml" Id="R19e55411edfa46d2" /><Relationship Type="http://schemas.openxmlformats.org/officeDocument/2006/relationships/slideLayout" Target="/ppt/slideLayouts/slideLayout2.xml" Id="Rfc0188e650eb4c10" /><Relationship Type="http://schemas.openxmlformats.org/officeDocument/2006/relationships/slideLayout" Target="/ppt/slideLayouts/slideLayout3.xml" Id="R8c209daab6b34fd6" /><Relationship Type="http://schemas.openxmlformats.org/officeDocument/2006/relationships/slideLayout" Target="/ppt/slideLayouts/slideLayout4.xml" Id="R6a5abfe701564484" /><Relationship Type="http://schemas.openxmlformats.org/officeDocument/2006/relationships/slideLayout" Target="/ppt/slideLayouts/slideLayout5.xml" Id="R7eceb226dee041ce" /><Relationship Type="http://schemas.openxmlformats.org/officeDocument/2006/relationships/slideLayout" Target="/ppt/slideLayouts/slideLayout6.xml" Id="R6634da0f35ac491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e55411edfa46d2"/>
    <p:sldLayoutId xmlns:r="http://schemas.openxmlformats.org/officeDocument/2006/relationships" id="2147483650" r:id="Rfc0188e650eb4c10"/>
    <p:sldLayoutId xmlns:r="http://schemas.openxmlformats.org/officeDocument/2006/relationships" id="2147483651" r:id="R8c209daab6b34fd6"/>
    <p:sldLayoutId xmlns:r="http://schemas.openxmlformats.org/officeDocument/2006/relationships" id="2147483652" r:id="R6a5abfe701564484"/>
    <p:sldLayoutId xmlns:r="http://schemas.openxmlformats.org/officeDocument/2006/relationships" id="2147483653" r:id="R7eceb226dee041ce"/>
    <p:sldLayoutId xmlns:r="http://schemas.openxmlformats.org/officeDocument/2006/relationships" id="2147483654" r:id="R6634da0f35ac491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f4a856650d427b" /><Relationship Type="http://schemas.openxmlformats.org/officeDocument/2006/relationships/notesSlide" Target="/ppt/notesSlides/notesSlide1.xml" Id="R61f1587779b24f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b359a1120184d99" /><Relationship Type="http://schemas.openxmlformats.org/officeDocument/2006/relationships/notesSlide" Target="/ppt/notesSlides/notesSlide2.xml" Id="R270cfda6120f41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642d61a7f6e44b6" /><Relationship Type="http://schemas.openxmlformats.org/officeDocument/2006/relationships/notesSlide" Target="/ppt/notesSlides/notesSlide3.xml" Id="R32bd11f0f45147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194d9b5064d42ac" /><Relationship Type="http://schemas.openxmlformats.org/officeDocument/2006/relationships/notesSlide" Target="/ppt/notesSlides/notesSlide4.xml" Id="R18c7042c2bd44f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caaca4a85a94bb6" /><Relationship Type="http://schemas.openxmlformats.org/officeDocument/2006/relationships/notesSlide" Target="/ppt/notesSlides/notesSlide5.xml" Id="Rc5acbf462b3b4e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e52cec656484ad6" /><Relationship Type="http://schemas.openxmlformats.org/officeDocument/2006/relationships/notesSlide" Target="/ppt/notesSlides/notesSlide6.xml" Id="R89efbd3f17444c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dc8bb685f2d4859" /><Relationship Type="http://schemas.openxmlformats.org/officeDocument/2006/relationships/notesSlide" Target="/ppt/notesSlides/notesSlide7.xml" Id="Rdfd9b8b8f9874c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ed486fcc66a4667" /><Relationship Type="http://schemas.openxmlformats.org/officeDocument/2006/relationships/notesSlide" Target="/ppt/notesSlides/notesSlide8.xml" Id="R9980c604a01946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47420484054ec0" /><Relationship Type="http://schemas.openxmlformats.org/officeDocument/2006/relationships/notesSlide" Target="/ppt/notesSlides/notesSlide9.xml" Id="R8fdc518cfc3e48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badb85f65754665" /><Relationship Type="http://schemas.openxmlformats.org/officeDocument/2006/relationships/notesSlide" Target="/ppt/notesSlides/notesSlide10.xml" Id="Radfb3fdb06eb4ed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4e5d29ad7874058" /><Relationship Type="http://schemas.openxmlformats.org/officeDocument/2006/relationships/notesSlide" Target="/ppt/notesSlides/notesSlide11.xml" Id="R4b572200ab584ef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6b4a35e13be42be" /><Relationship Type="http://schemas.openxmlformats.org/officeDocument/2006/relationships/notesSlide" Target="/ppt/notesSlides/notesSlide12.xml" Id="R82b4613e88c4471b"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CDB84D-B5B5-4E59-8BD8-478236D5F201}"/>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Responsible AI at SwiftTel</a:t>
            </a:r>
          </a:p>
        </p:txBody>
      </p:sp>
      <p:sp>
        <p:nvSpPr>
          <p:cNvPr id="2" name="">
            <a:extLst xmlns:a="http://schemas.openxmlformats.org/drawingml/2006/main">
              <a:ext uri="{FF2B5EF4-FFF2-40B4-BE49-F238E27FC236}">
                <a16:creationId xmlns:a16="http://schemas.microsoft.com/office/drawing/2014/main" id="{F482B7DE-AC92-44FF-91DA-EED2C831B07E}"/>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01</a:t>
            </a:r>
          </a:p>
        </p:txBody>
      </p:sp>
      <p:sp>
        <p:nvSpPr>
          <p:cNvPr id="3" name="">
            <a:extLst xmlns:a="http://schemas.openxmlformats.org/drawingml/2006/main">
              <a:ext uri="{FF2B5EF4-FFF2-40B4-BE49-F238E27FC236}">
                <a16:creationId xmlns:a16="http://schemas.microsoft.com/office/drawing/2014/main" id="{86B96B9F-513C-41A2-8390-B3E4895DE74A}"/>
              </a:ext>
            </a:extLst>
          </p:cNvPr>
          <p:cNvSpPr>
            <a:spLocks xmlns:a="http://schemas.openxmlformats.org/drawingml/2006/main" noGrp="1"/>
          </p:cNvSpPr>
          <p:nvPr/>
        </p:nvSpPr>
        <p:spPr>
          <a:xfrm xmlns:a="http://schemas.openxmlformats.org/drawingml/2006/main">
            <a:off x="609600" y="2047875"/>
            <a:ext cx="10477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43A46"/>
                </a:solidFill>
                <a:latin typeface="Bitstream Charter"/>
                <a:ea typeface="Bitstream Charter"/>
                <a:cs typeface="Bitstream Charter"/>
              </a:defRPr>
            </a:pPr>
            <a:r>
              <a:rPr sz="4050" b="1">
                <a:solidFill>
                  <a:srgbClr val="143A46"/>
                </a:solidFill>
                <a:latin typeface="Bitstream Charter"/>
                <a:ea typeface="Bitstream Charter"/>
                <a:cs typeface="Bitstream Charter"/>
              </a:rPr>
              <a:t>Customer service automation</a:t>
            </a:r>
          </a:p>
          <a:p xmlns:a="http://schemas.openxmlformats.org/drawingml/2006/main">
            <a:pPr>
              <a:defRPr sz="4050" b="1">
                <a:solidFill>
                  <a:srgbClr val="143A46"/>
                </a:solidFill>
                <a:latin typeface="Bitstream Charter"/>
                <a:ea typeface="Bitstream Charter"/>
                <a:cs typeface="Bitstream Charter"/>
              </a:defRPr>
            </a:pPr>
            <a:r>
              <a:rPr sz="4050" b="1">
                <a:solidFill>
                  <a:srgbClr val="143A46"/>
                </a:solidFill>
                <a:latin typeface="Bitstream Charter"/>
                <a:ea typeface="Bitstream Charter"/>
                <a:cs typeface="Bitstream Charter"/>
              </a:rPr>
              <a:t>and the dignity of work</a:t>
            </a:r>
          </a:p>
        </p:txBody>
      </p:sp>
      <p:sp>
        <p:nvSpPr>
          <p:cNvPr id="4" name="">
            <a:extLst xmlns:a="http://schemas.openxmlformats.org/drawingml/2006/main">
              <a:ext uri="{FF2B5EF4-FFF2-40B4-BE49-F238E27FC236}">
                <a16:creationId xmlns:a16="http://schemas.microsoft.com/office/drawing/2014/main" id="{A4E459E9-AE7C-467D-ADC6-E844186EE5FD}"/>
              </a:ext>
            </a:extLst>
          </p:cNvPr>
          <p:cNvSpPr>
            <a:spLocks xmlns:a="http://schemas.openxmlformats.org/drawingml/2006/main" noGrp="1"/>
          </p:cNvSpPr>
          <p:nvPr/>
        </p:nvSpPr>
        <p:spPr>
          <a:xfrm xmlns:a="http://schemas.openxmlformats.org/drawingml/2006/main">
            <a:off x="609600" y="4000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87F82"/>
                </a:solidFill>
                <a:latin typeface="Bitstream Charter"/>
                <a:ea typeface="Bitstream Charter"/>
                <a:cs typeface="Bitstream Charter"/>
              </a:defRPr>
            </a:pPr>
            <a:r>
              <a:rPr sz="2400" b="0">
                <a:solidFill>
                  <a:srgbClr val="087F82"/>
                </a:solidFill>
                <a:latin typeface="Bitstream Charter"/>
                <a:ea typeface="Bitstream Charter"/>
                <a:cs typeface="Bitstream Charter"/>
              </a:rPr>
              <a:t>Recommendation: phased human–AI teaming</a:t>
            </a:r>
          </a:p>
        </p:txBody>
      </p:sp>
      <p:sp>
        <p:nvSpPr>
          <p:cNvPr id="5" name="">
            <a:extLst xmlns:a="http://schemas.openxmlformats.org/drawingml/2006/main">
              <a:ext uri="{FF2B5EF4-FFF2-40B4-BE49-F238E27FC236}">
                <a16:creationId xmlns:a16="http://schemas.microsoft.com/office/drawing/2014/main" id="{9EE5A9A8-AC08-4500-AF17-3F91E90F7B8A}"/>
              </a:ext>
            </a:extLst>
          </p:cNvPr>
          <p:cNvSpPr>
            <a:spLocks xmlns:a="http://schemas.openxmlformats.org/drawingml/2006/main" noGrp="1"/>
          </p:cNvSpPr>
          <p:nvPr/>
        </p:nvSpPr>
        <p:spPr>
          <a:xfrm xmlns:a="http://schemas.openxmlformats.org/drawingml/2006/main">
            <a:off x="609600" y="5286375"/>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33847"/>
                </a:solidFill>
                <a:latin typeface="Bitstream Charter"/>
                <a:ea typeface="Bitstream Charter"/>
                <a:cs typeface="Bitstream Charter"/>
              </a:defRPr>
            </a:pPr>
            <a:r>
              <a:rPr sz="1950" b="0">
                <a:solidFill>
                  <a:srgbClr val="233847"/>
                </a:solidFill>
                <a:latin typeface="Bitstream Charter"/>
                <a:ea typeface="Bitstream Charter"/>
                <a:cs typeface="Bitstream Charter"/>
              </a:rPr>
              <a:t>Sai Kishore Addala</a:t>
            </a:r>
          </a:p>
          <a:p xmlns:a="http://schemas.openxmlformats.org/drawingml/2006/main">
            <a:pPr>
              <a:defRPr sz="1950" b="0">
                <a:solidFill>
                  <a:srgbClr val="233847"/>
                </a:solidFill>
                <a:latin typeface="Bitstream Charter"/>
                <a:ea typeface="Bitstream Charter"/>
                <a:cs typeface="Bitstream Charter"/>
              </a:defRPr>
            </a:pPr>
            <a:r>
              <a:rPr sz="1950" b="0">
                <a:solidFill>
                  <a:srgbClr val="233847"/>
                </a:solidFill>
                <a:latin typeface="Bitstream Charter"/>
                <a:ea typeface="Bitstream Charter"/>
                <a:cs typeface="Bitstream Charter"/>
              </a:rPr>
              <a:t>Indiana Wesleyan University</a:t>
            </a:r>
          </a:p>
        </p:txBody>
      </p:sp>
    </p:spTree>
    <p:extLst>
      <p:ext uri="{BB962C8B-B14F-4D97-AF65-F5344CB8AC3E}">
        <p14:creationId xmlns:p14="http://schemas.microsoft.com/office/powerpoint/2010/main" val="1717595972"/>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E1B21CA-45A6-4DB6-94B9-8CC41AE119B9}"/>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SwiftTel’s decision and evidence gaps</a:t>
            </a:r>
          </a:p>
        </p:txBody>
      </p:sp>
      <p:sp>
        <p:nvSpPr>
          <p:cNvPr id="2" name="">
            <a:extLst xmlns:a="http://schemas.openxmlformats.org/drawingml/2006/main">
              <a:ext uri="{FF2B5EF4-FFF2-40B4-BE49-F238E27FC236}">
                <a16:creationId xmlns:a16="http://schemas.microsoft.com/office/drawing/2014/main" id="{FD8AF101-C156-44A6-BADC-2A1CC474AAED}"/>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02</a:t>
            </a:r>
          </a:p>
        </p:txBody>
      </p:sp>
      <p:sp>
        <p:nvSpPr>
          <p:cNvPr id="3" name="">
            <a:extLst xmlns:a="http://schemas.openxmlformats.org/drawingml/2006/main">
              <a:ext uri="{FF2B5EF4-FFF2-40B4-BE49-F238E27FC236}">
                <a16:creationId xmlns:a16="http://schemas.microsoft.com/office/drawing/2014/main" id="{A2E889F8-31DB-4C4A-8667-F46116608751}"/>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Current proposal</a:t>
            </a:r>
          </a:p>
        </p:txBody>
      </p:sp>
      <p:sp>
        <p:nvSpPr>
          <p:cNvPr id="4" name="">
            <a:extLst xmlns:a="http://schemas.openxmlformats.org/drawingml/2006/main">
              <a:ext uri="{FF2B5EF4-FFF2-40B4-BE49-F238E27FC236}">
                <a16:creationId xmlns:a16="http://schemas.microsoft.com/office/drawing/2014/main" id="{8E133A79-0492-428F-BF6F-EC9A1660E02E}"/>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Automate 80% of customer service with SwiftBot, an LLM-based voice and chat system.</a:t>
            </a:r>
          </a:p>
        </p:txBody>
      </p:sp>
      <p:sp>
        <p:nvSpPr>
          <p:cNvPr id="5" name="">
            <a:extLst xmlns:a="http://schemas.openxmlformats.org/drawingml/2006/main">
              <a:ext uri="{FF2B5EF4-FFF2-40B4-BE49-F238E27FC236}">
                <a16:creationId xmlns:a16="http://schemas.microsoft.com/office/drawing/2014/main" id="{81E1DF9F-A7B3-4AA2-83D2-0EFC1912C69B}"/>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Available features</a:t>
            </a:r>
          </a:p>
        </p:txBody>
      </p:sp>
      <p:sp>
        <p:nvSpPr>
          <p:cNvPr id="6" name="">
            <a:extLst xmlns:a="http://schemas.openxmlformats.org/drawingml/2006/main">
              <a:ext uri="{FF2B5EF4-FFF2-40B4-BE49-F238E27FC236}">
                <a16:creationId xmlns:a16="http://schemas.microsoft.com/office/drawing/2014/main" id="{1DFFD05F-0870-46DF-B812-C3834D81791D}"/>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24/7 multilingual support, with a human escalation after three failed attempts.</a:t>
            </a:r>
          </a:p>
        </p:txBody>
      </p:sp>
      <p:sp>
        <p:nvSpPr>
          <p:cNvPr id="7" name="">
            <a:extLst xmlns:a="http://schemas.openxmlformats.org/drawingml/2006/main">
              <a:ext uri="{FF2B5EF4-FFF2-40B4-BE49-F238E27FC236}">
                <a16:creationId xmlns:a16="http://schemas.microsoft.com/office/drawing/2014/main" id="{F63BFFA5-9A39-498D-80DE-77B42F531D10}"/>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Decision boundary</a:t>
            </a:r>
          </a:p>
        </p:txBody>
      </p:sp>
      <p:sp>
        <p:nvSpPr>
          <p:cNvPr id="8" name="">
            <a:extLst xmlns:a="http://schemas.openxmlformats.org/drawingml/2006/main">
              <a:ext uri="{FF2B5EF4-FFF2-40B4-BE49-F238E27FC236}">
                <a16:creationId xmlns:a16="http://schemas.microsoft.com/office/drawing/2014/main" id="{950A8A33-A61E-48CD-A9AE-66186684B5E9}"/>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80% automation is the stated plan. Full automation is a comparison scenario covering all service work.</a:t>
            </a:r>
          </a:p>
        </p:txBody>
      </p:sp>
      <p:sp>
        <p:nvSpPr>
          <p:cNvPr id="9" name="">
            <a:extLst xmlns:a="http://schemas.openxmlformats.org/drawingml/2006/main">
              <a:ext uri="{FF2B5EF4-FFF2-40B4-BE49-F238E27FC236}">
                <a16:creationId xmlns:a16="http://schemas.microsoft.com/office/drawing/2014/main" id="{754801CF-7D80-405E-9896-495C92421156}"/>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Evidence needed</a:t>
            </a:r>
          </a:p>
        </p:txBody>
      </p:sp>
      <p:sp>
        <p:nvSpPr>
          <p:cNvPr id="10" name="">
            <a:extLst xmlns:a="http://schemas.openxmlformats.org/drawingml/2006/main">
              <a:ext uri="{FF2B5EF4-FFF2-40B4-BE49-F238E27FC236}">
                <a16:creationId xmlns:a16="http://schemas.microsoft.com/office/drawing/2014/main" id="{289CBFA4-B201-46FC-9A04-E0B02DBAB8B4}"/>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The supplied excerpt omits initial outcomes and critical feedback. Obtain those results before approving expansion.</a:t>
            </a:r>
          </a:p>
        </p:txBody>
      </p:sp>
      <p:sp>
        <p:nvSpPr>
          <p:cNvPr id="11" name="">
            <a:extLst xmlns:a="http://schemas.openxmlformats.org/drawingml/2006/main">
              <a:ext uri="{FF2B5EF4-FFF2-40B4-BE49-F238E27FC236}">
                <a16:creationId xmlns:a16="http://schemas.microsoft.com/office/drawing/2014/main" id="{A4EF58F8-B78E-4696-960D-E54EAEFB7E0A}"/>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Source: assignment case study</a:t>
            </a:r>
          </a:p>
        </p:txBody>
      </p:sp>
    </p:spTree>
    <p:extLst>
      <p:ext uri="{BB962C8B-B14F-4D97-AF65-F5344CB8AC3E}">
        <p14:creationId xmlns:p14="http://schemas.microsoft.com/office/powerpoint/2010/main" val="2021720364"/>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6FB7FE-44A1-43D6-9ADE-9566C54EAF97}"/>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RAI framework for this assessment</a:t>
            </a:r>
          </a:p>
        </p:txBody>
      </p:sp>
      <p:sp>
        <p:nvSpPr>
          <p:cNvPr id="2" name="">
            <a:extLst xmlns:a="http://schemas.openxmlformats.org/drawingml/2006/main">
              <a:ext uri="{FF2B5EF4-FFF2-40B4-BE49-F238E27FC236}">
                <a16:creationId xmlns:a16="http://schemas.microsoft.com/office/drawing/2014/main" id="{BDD886EC-14C4-437B-92B2-4170AEE46A94}"/>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03</a:t>
            </a:r>
          </a:p>
        </p:txBody>
      </p:sp>
      <p:sp>
        <p:nvSpPr>
          <p:cNvPr id="3" name="">
            <a:extLst xmlns:a="http://schemas.openxmlformats.org/drawingml/2006/main">
              <a:ext uri="{FF2B5EF4-FFF2-40B4-BE49-F238E27FC236}">
                <a16:creationId xmlns:a16="http://schemas.microsoft.com/office/drawing/2014/main" id="{8BE83C2F-BE4D-4B3E-94E5-2839907B5B23}"/>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Human dignity</a:t>
            </a:r>
          </a:p>
        </p:txBody>
      </p:sp>
      <p:sp>
        <p:nvSpPr>
          <p:cNvPr id="4" name="">
            <a:extLst xmlns:a="http://schemas.openxmlformats.org/drawingml/2006/main">
              <a:ext uri="{FF2B5EF4-FFF2-40B4-BE49-F238E27FC236}">
                <a16:creationId xmlns:a16="http://schemas.microsoft.com/office/drawing/2014/main" id="{9BE012E3-9853-4847-B438-D174929AE139}"/>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Protect meaningful work through employee consultation, paid retraining and fair transition support.</a:t>
            </a:r>
          </a:p>
        </p:txBody>
      </p:sp>
      <p:sp>
        <p:nvSpPr>
          <p:cNvPr id="5" name="">
            <a:extLst xmlns:a="http://schemas.openxmlformats.org/drawingml/2006/main">
              <a:ext uri="{FF2B5EF4-FFF2-40B4-BE49-F238E27FC236}">
                <a16:creationId xmlns:a16="http://schemas.microsoft.com/office/drawing/2014/main" id="{A9F8F6F4-9C77-44C4-8353-0B2047A53A8C}"/>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Fairness and access</a:t>
            </a:r>
          </a:p>
        </p:txBody>
      </p:sp>
      <p:sp>
        <p:nvSpPr>
          <p:cNvPr id="6" name="">
            <a:extLst xmlns:a="http://schemas.openxmlformats.org/drawingml/2006/main">
              <a:ext uri="{FF2B5EF4-FFF2-40B4-BE49-F238E27FC236}">
                <a16:creationId xmlns:a16="http://schemas.microsoft.com/office/drawing/2014/main" id="{567572A9-A093-47AB-8D7C-095BBB9B9738}"/>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Compare service quality across languages and accessibility needs. Preserve a usable human channel.</a:t>
            </a:r>
          </a:p>
        </p:txBody>
      </p:sp>
      <p:sp>
        <p:nvSpPr>
          <p:cNvPr id="7" name="">
            <a:extLst xmlns:a="http://schemas.openxmlformats.org/drawingml/2006/main">
              <a:ext uri="{FF2B5EF4-FFF2-40B4-BE49-F238E27FC236}">
                <a16:creationId xmlns:a16="http://schemas.microsoft.com/office/drawing/2014/main" id="{C30CEFE3-84AA-4E31-A238-9DC5DBACCA46}"/>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Reliability and privacy</a:t>
            </a:r>
          </a:p>
        </p:txBody>
      </p:sp>
      <p:sp>
        <p:nvSpPr>
          <p:cNvPr id="8" name="">
            <a:extLst xmlns:a="http://schemas.openxmlformats.org/drawingml/2006/main">
              <a:ext uri="{FF2B5EF4-FFF2-40B4-BE49-F238E27FC236}">
                <a16:creationId xmlns:a16="http://schemas.microsoft.com/office/drawing/2014/main" id="{DE7BA4AB-C769-4D2F-B18C-2E378E550FC2}"/>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Verify answers against approved policies. Restrict account access and minimize retained customer data.</a:t>
            </a:r>
          </a:p>
        </p:txBody>
      </p:sp>
      <p:sp>
        <p:nvSpPr>
          <p:cNvPr id="9" name="">
            <a:extLst xmlns:a="http://schemas.openxmlformats.org/drawingml/2006/main">
              <a:ext uri="{FF2B5EF4-FFF2-40B4-BE49-F238E27FC236}">
                <a16:creationId xmlns:a16="http://schemas.microsoft.com/office/drawing/2014/main" id="{3E3EDB6D-F061-48C6-8E88-12F462159E9C}"/>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Accountability</a:t>
            </a:r>
          </a:p>
        </p:txBody>
      </p:sp>
      <p:sp>
        <p:nvSpPr>
          <p:cNvPr id="10" name="">
            <a:extLst xmlns:a="http://schemas.openxmlformats.org/drawingml/2006/main">
              <a:ext uri="{FF2B5EF4-FFF2-40B4-BE49-F238E27FC236}">
                <a16:creationId xmlns:a16="http://schemas.microsoft.com/office/drawing/2014/main" id="{FCBF8B75-B989-43AB-82BF-82268B0FF49A}"/>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Disclose AI use, name decision owners, record decisions and maintain an appeal and incident process.</a:t>
            </a:r>
          </a:p>
        </p:txBody>
      </p:sp>
      <p:sp>
        <p:nvSpPr>
          <p:cNvPr id="11" name="">
            <a:extLst xmlns:a="http://schemas.openxmlformats.org/drawingml/2006/main">
              <a:ext uri="{FF2B5EF4-FFF2-40B4-BE49-F238E27FC236}">
                <a16:creationId xmlns:a16="http://schemas.microsoft.com/office/drawing/2014/main" id="{BF4D5ADA-9054-4E40-819F-DB40E3D58C04}"/>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Ethical foundation: USCCB (n.d.)</a:t>
            </a:r>
          </a:p>
        </p:txBody>
      </p:sp>
    </p:spTree>
    <p:extLst>
      <p:ext uri="{BB962C8B-B14F-4D97-AF65-F5344CB8AC3E}">
        <p14:creationId xmlns:p14="http://schemas.microsoft.com/office/powerpoint/2010/main" val="1298959270"/>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6C7F21-D4C4-4B07-ADE7-6B2DC08C809A}"/>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Full automation: costs and benefits</a:t>
            </a:r>
          </a:p>
        </p:txBody>
      </p:sp>
      <p:sp>
        <p:nvSpPr>
          <p:cNvPr id="2" name="">
            <a:extLst xmlns:a="http://schemas.openxmlformats.org/drawingml/2006/main">
              <a:ext uri="{FF2B5EF4-FFF2-40B4-BE49-F238E27FC236}">
                <a16:creationId xmlns:a16="http://schemas.microsoft.com/office/drawing/2014/main" id="{CD500CF0-A1FB-4EF5-916B-8C764A1936F9}"/>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04</a:t>
            </a:r>
          </a:p>
        </p:txBody>
      </p:sp>
      <p:sp>
        <p:nvSpPr>
          <p:cNvPr id="3" name="">
            <a:extLst xmlns:a="http://schemas.openxmlformats.org/drawingml/2006/main">
              <a:ext uri="{FF2B5EF4-FFF2-40B4-BE49-F238E27FC236}">
                <a16:creationId xmlns:a16="http://schemas.microsoft.com/office/drawing/2014/main" id="{640C96BF-CB34-4312-8CF4-E360E146ECC2}"/>
              </a:ext>
            </a:extLst>
          </p:cNvPr>
          <p:cNvSpPr>
            <a:spLocks xmlns:a="http://schemas.openxmlformats.org/drawingml/2006/main" noGrp="1"/>
          </p:cNvSpPr>
          <p:nvPr/>
        </p:nvSpPr>
        <p:spPr>
          <a:xfrm xmlns:a="http://schemas.openxmlformats.org/drawingml/2006/main">
            <a:off x="60960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2"/>
                </a:solidFill>
                <a:latin typeface="Bitstream Charter"/>
                <a:ea typeface="Bitstream Charter"/>
                <a:cs typeface="Bitstream Charter"/>
              </a:defRPr>
            </a:pPr>
            <a:r>
              <a:rPr sz="2325" b="1">
                <a:solidFill>
                  <a:srgbClr val="087F82"/>
                </a:solidFill>
                <a:latin typeface="Bitstream Charter"/>
                <a:ea typeface="Bitstream Charter"/>
                <a:cs typeface="Bitstream Charter"/>
              </a:rPr>
              <a:t>Potential benefits</a:t>
            </a:r>
          </a:p>
        </p:txBody>
      </p:sp>
      <p:sp>
        <p:nvSpPr>
          <p:cNvPr id="4" name="">
            <a:extLst xmlns:a="http://schemas.openxmlformats.org/drawingml/2006/main">
              <a:ext uri="{FF2B5EF4-FFF2-40B4-BE49-F238E27FC236}">
                <a16:creationId xmlns:a16="http://schemas.microsoft.com/office/drawing/2014/main" id="{06DF62C4-67A0-4211-AE1C-5921CFAD2C66}"/>
              </a:ext>
            </a:extLst>
          </p:cNvPr>
          <p:cNvSpPr>
            <a:spLocks xmlns:a="http://schemas.openxmlformats.org/drawingml/2006/main" noGrp="1"/>
          </p:cNvSpPr>
          <p:nvPr/>
        </p:nvSpPr>
        <p:spPr>
          <a:xfrm xmlns:a="http://schemas.openxmlformats.org/drawingml/2006/main">
            <a:off x="638175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2"/>
                </a:solidFill>
                <a:latin typeface="Bitstream Charter"/>
                <a:ea typeface="Bitstream Charter"/>
                <a:cs typeface="Bitstream Charter"/>
              </a:defRPr>
            </a:pPr>
            <a:r>
              <a:rPr sz="2325" b="1">
                <a:solidFill>
                  <a:srgbClr val="087F82"/>
                </a:solidFill>
                <a:latin typeface="Bitstream Charter"/>
                <a:ea typeface="Bitstream Charter"/>
                <a:cs typeface="Bitstream Charter"/>
              </a:rPr>
              <a:t>Costs and tradeoffs</a:t>
            </a:r>
          </a:p>
        </p:txBody>
      </p:sp>
      <p:sp>
        <p:nvSpPr>
          <p:cNvPr id="5" name="">
            <a:extLst xmlns:a="http://schemas.openxmlformats.org/drawingml/2006/main">
              <a:ext uri="{FF2B5EF4-FFF2-40B4-BE49-F238E27FC236}">
                <a16:creationId xmlns:a16="http://schemas.microsoft.com/office/drawing/2014/main" id="{296402FB-7493-4D66-8739-2CF6BC4ADBC8}"/>
              </a:ext>
            </a:extLst>
          </p:cNvPr>
          <p:cNvSpPr>
            <a:spLocks xmlns:a="http://schemas.openxmlformats.org/drawingml/2006/main" noGrp="1"/>
          </p:cNvSpPr>
          <p:nvPr/>
        </p:nvSpPr>
        <p:spPr>
          <a:xfrm xmlns:a="http://schemas.openxmlformats.org/drawingml/2006/main">
            <a:off x="609600" y="2286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Lower labor cost per routine interaction and capacity for sudden demand.</a:t>
            </a:r>
          </a:p>
        </p:txBody>
      </p:sp>
      <p:sp>
        <p:nvSpPr>
          <p:cNvPr id="6" name="">
            <a:extLst xmlns:a="http://schemas.openxmlformats.org/drawingml/2006/main">
              <a:ext uri="{FF2B5EF4-FFF2-40B4-BE49-F238E27FC236}">
                <a16:creationId xmlns:a16="http://schemas.microsoft.com/office/drawing/2014/main" id="{1368A978-A5F2-413B-A54B-CE82F315672E}"/>
              </a:ext>
            </a:extLst>
          </p:cNvPr>
          <p:cNvSpPr>
            <a:spLocks xmlns:a="http://schemas.openxmlformats.org/drawingml/2006/main" noGrp="1"/>
          </p:cNvSpPr>
          <p:nvPr/>
        </p:nvSpPr>
        <p:spPr>
          <a:xfrm xmlns:a="http://schemas.openxmlformats.org/drawingml/2006/main">
            <a:off x="609600" y="3238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Continuous service and multilingual responses.</a:t>
            </a:r>
          </a:p>
        </p:txBody>
      </p:sp>
      <p:sp>
        <p:nvSpPr>
          <p:cNvPr id="7" name="">
            <a:extLst xmlns:a="http://schemas.openxmlformats.org/drawingml/2006/main">
              <a:ext uri="{FF2B5EF4-FFF2-40B4-BE49-F238E27FC236}">
                <a16:creationId xmlns:a16="http://schemas.microsoft.com/office/drawing/2014/main" id="{5F95F738-AC55-4EE4-BF04-B6F506AA7927}"/>
              </a:ext>
            </a:extLst>
          </p:cNvPr>
          <p:cNvSpPr>
            <a:spLocks xmlns:a="http://schemas.openxmlformats.org/drawingml/2006/main" noGrp="1"/>
          </p:cNvSpPr>
          <p:nvPr/>
        </p:nvSpPr>
        <p:spPr>
          <a:xfrm xmlns:a="http://schemas.openxmlformats.org/drawingml/2006/main">
            <a:off x="609600" y="4191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Consistent application of verified policies for predictable requests.</a:t>
            </a:r>
          </a:p>
        </p:txBody>
      </p:sp>
      <p:sp>
        <p:nvSpPr>
          <p:cNvPr id="8" name="">
            <a:extLst xmlns:a="http://schemas.openxmlformats.org/drawingml/2006/main">
              <a:ext uri="{FF2B5EF4-FFF2-40B4-BE49-F238E27FC236}">
                <a16:creationId xmlns:a16="http://schemas.microsoft.com/office/drawing/2014/main" id="{2DE05987-458A-4121-8578-CF84D2D8DB44}"/>
              </a:ext>
            </a:extLst>
          </p:cNvPr>
          <p:cNvSpPr>
            <a:spLocks xmlns:a="http://schemas.openxmlformats.org/drawingml/2006/main" noGrp="1"/>
          </p:cNvSpPr>
          <p:nvPr/>
        </p:nvSpPr>
        <p:spPr>
          <a:xfrm xmlns:a="http://schemas.openxmlformats.org/drawingml/2006/main">
            <a:off x="6381750" y="2286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Licensing, inference, integration, security testing and ongoing maintenance.</a:t>
            </a:r>
          </a:p>
        </p:txBody>
      </p:sp>
      <p:sp>
        <p:nvSpPr>
          <p:cNvPr id="9" name="">
            <a:extLst xmlns:a="http://schemas.openxmlformats.org/drawingml/2006/main">
              <a:ext uri="{FF2B5EF4-FFF2-40B4-BE49-F238E27FC236}">
                <a16:creationId xmlns:a16="http://schemas.microsoft.com/office/drawing/2014/main" id="{6A605260-DF0A-46D0-BA41-3CAD26DB8EA3}"/>
              </a:ext>
            </a:extLst>
          </p:cNvPr>
          <p:cNvSpPr>
            <a:spLocks xmlns:a="http://schemas.openxmlformats.org/drawingml/2006/main" noGrp="1"/>
          </p:cNvSpPr>
          <p:nvPr/>
        </p:nvSpPr>
        <p:spPr>
          <a:xfrm xmlns:a="http://schemas.openxmlformats.org/drawingml/2006/main">
            <a:off x="6381750" y="3238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Rework, refunds and customer churn when mistakes or rigid routing frustrate customers.</a:t>
            </a:r>
          </a:p>
        </p:txBody>
      </p:sp>
      <p:sp>
        <p:nvSpPr>
          <p:cNvPr id="10" name="">
            <a:extLst xmlns:a="http://schemas.openxmlformats.org/drawingml/2006/main">
              <a:ext uri="{FF2B5EF4-FFF2-40B4-BE49-F238E27FC236}">
                <a16:creationId xmlns:a16="http://schemas.microsoft.com/office/drawing/2014/main" id="{92E793E6-4ECC-4591-B321-22CDEA45D964}"/>
              </a:ext>
            </a:extLst>
          </p:cNvPr>
          <p:cNvSpPr>
            <a:spLocks xmlns:a="http://schemas.openxmlformats.org/drawingml/2006/main" noGrp="1"/>
          </p:cNvSpPr>
          <p:nvPr/>
        </p:nvSpPr>
        <p:spPr>
          <a:xfrm xmlns:a="http://schemas.openxmlformats.org/drawingml/2006/main">
            <a:off x="6381750" y="4191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Displacement of workers and loss of experienced agents who handle unusual problems.</a:t>
            </a:r>
          </a:p>
        </p:txBody>
      </p:sp>
      <p:sp>
        <p:nvSpPr>
          <p:cNvPr id="11" name="">
            <a:extLst xmlns:a="http://schemas.openxmlformats.org/drawingml/2006/main">
              <a:ext uri="{FF2B5EF4-FFF2-40B4-BE49-F238E27FC236}">
                <a16:creationId xmlns:a16="http://schemas.microsoft.com/office/drawing/2014/main" id="{C526A367-310F-4E36-BE10-CE5DEE9B72CF}"/>
              </a:ext>
            </a:extLst>
          </p:cNvPr>
          <p:cNvSpPr>
            <a:spLocks xmlns:a="http://schemas.openxmlformats.org/drawingml/2006/main" noGrp="1"/>
          </p:cNvSpPr>
          <p:nvPr/>
        </p:nvSpPr>
        <p:spPr>
          <a:xfrm xmlns:a="http://schemas.openxmlformats.org/drawingml/2006/main">
            <a:off x="60960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Net savings require total cost per successfully resolved case. 80% automation does not imply 80% cost savings.</a:t>
            </a:r>
          </a:p>
        </p:txBody>
      </p:sp>
    </p:spTree>
    <p:extLst>
      <p:ext uri="{BB962C8B-B14F-4D97-AF65-F5344CB8AC3E}">
        <p14:creationId xmlns:p14="http://schemas.microsoft.com/office/powerpoint/2010/main" val="569859367"/>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7D41B41-DDFB-44C5-A7A0-E447147FF2F7}"/>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Full automation: RAI risks</a:t>
            </a:r>
          </a:p>
        </p:txBody>
      </p:sp>
      <p:sp>
        <p:nvSpPr>
          <p:cNvPr id="2" name="">
            <a:extLst xmlns:a="http://schemas.openxmlformats.org/drawingml/2006/main">
              <a:ext uri="{FF2B5EF4-FFF2-40B4-BE49-F238E27FC236}">
                <a16:creationId xmlns:a16="http://schemas.microsoft.com/office/drawing/2014/main" id="{DE109BF5-5A98-49F0-AD56-CE75F5F8C7A5}"/>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05</a:t>
            </a:r>
          </a:p>
        </p:txBody>
      </p:sp>
      <p:sp>
        <p:nvSpPr>
          <p:cNvPr id="3" name="">
            <a:extLst xmlns:a="http://schemas.openxmlformats.org/drawingml/2006/main">
              <a:ext uri="{FF2B5EF4-FFF2-40B4-BE49-F238E27FC236}">
                <a16:creationId xmlns:a16="http://schemas.microsoft.com/office/drawing/2014/main" id="{00397580-77AC-49B6-A61B-94D14A1D882D}"/>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Reliability</a:t>
            </a:r>
          </a:p>
        </p:txBody>
      </p:sp>
      <p:sp>
        <p:nvSpPr>
          <p:cNvPr id="4" name="">
            <a:extLst xmlns:a="http://schemas.openxmlformats.org/drawingml/2006/main">
              <a:ext uri="{FF2B5EF4-FFF2-40B4-BE49-F238E27FC236}">
                <a16:creationId xmlns:a16="http://schemas.microsoft.com/office/drawing/2014/main" id="{785490E0-0535-49D0-ABAC-43C5FA8EBC3F}"/>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Confidently wrong billing advice or troubleshooting could harm customers. Use approved knowledge and restrict transactions.</a:t>
            </a:r>
          </a:p>
        </p:txBody>
      </p:sp>
      <p:sp>
        <p:nvSpPr>
          <p:cNvPr id="5" name="">
            <a:extLst xmlns:a="http://schemas.openxmlformats.org/drawingml/2006/main">
              <a:ext uri="{FF2B5EF4-FFF2-40B4-BE49-F238E27FC236}">
                <a16:creationId xmlns:a16="http://schemas.microsoft.com/office/drawing/2014/main" id="{12203A05-DF17-43A6-B3B5-2A11E2965019}"/>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Fairness</a:t>
            </a:r>
          </a:p>
        </p:txBody>
      </p:sp>
      <p:sp>
        <p:nvSpPr>
          <p:cNvPr id="6" name="">
            <a:extLst xmlns:a="http://schemas.openxmlformats.org/drawingml/2006/main">
              <a:ext uri="{FF2B5EF4-FFF2-40B4-BE49-F238E27FC236}">
                <a16:creationId xmlns:a16="http://schemas.microsoft.com/office/drawing/2014/main" id="{58EB6428-A02B-439B-A99A-D6DE3590E8BD}"/>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Accents, disabilities or less supported languages may produce unequal failure rates. Test representative users.</a:t>
            </a:r>
          </a:p>
        </p:txBody>
      </p:sp>
      <p:sp>
        <p:nvSpPr>
          <p:cNvPr id="7" name="">
            <a:extLst xmlns:a="http://schemas.openxmlformats.org/drawingml/2006/main">
              <a:ext uri="{FF2B5EF4-FFF2-40B4-BE49-F238E27FC236}">
                <a16:creationId xmlns:a16="http://schemas.microsoft.com/office/drawing/2014/main" id="{BC2F6357-8EE5-4E39-9BFF-73AB5C0E25BB}"/>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Privacy and agency</a:t>
            </a:r>
          </a:p>
        </p:txBody>
      </p:sp>
      <p:sp>
        <p:nvSpPr>
          <p:cNvPr id="8" name="">
            <a:extLst xmlns:a="http://schemas.openxmlformats.org/drawingml/2006/main">
              <a:ext uri="{FF2B5EF4-FFF2-40B4-BE49-F238E27FC236}">
                <a16:creationId xmlns:a16="http://schemas.microsoft.com/office/drawing/2014/main" id="{1CC51C10-A425-4445-A9CE-41AF448A0DA6}"/>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Account-data exposure and unwanted changes threaten customer control. Authenticate access and require explicit consent.</a:t>
            </a:r>
          </a:p>
        </p:txBody>
      </p:sp>
      <p:sp>
        <p:nvSpPr>
          <p:cNvPr id="9" name="">
            <a:extLst xmlns:a="http://schemas.openxmlformats.org/drawingml/2006/main">
              <a:ext uri="{FF2B5EF4-FFF2-40B4-BE49-F238E27FC236}">
                <a16:creationId xmlns:a16="http://schemas.microsoft.com/office/drawing/2014/main" id="{AAF676DA-750A-4B0F-B9D1-AA321D252A71}"/>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Human dignity</a:t>
            </a:r>
          </a:p>
        </p:txBody>
      </p:sp>
      <p:sp>
        <p:nvSpPr>
          <p:cNvPr id="10" name="">
            <a:extLst xmlns:a="http://schemas.openxmlformats.org/drawingml/2006/main">
              <a:ext uri="{FF2B5EF4-FFF2-40B4-BE49-F238E27FC236}">
                <a16:creationId xmlns:a16="http://schemas.microsoft.com/office/drawing/2014/main" id="{04BDEDA6-4986-4B99-99A4-613AC9A2BDEE}"/>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Rapid job cuts can undermine livelihoods and meaningful work. Consult employees and fund transitions.</a:t>
            </a:r>
          </a:p>
        </p:txBody>
      </p:sp>
      <p:sp>
        <p:nvSpPr>
          <p:cNvPr id="11" name="">
            <a:extLst xmlns:a="http://schemas.openxmlformats.org/drawingml/2006/main">
              <a:ext uri="{FF2B5EF4-FFF2-40B4-BE49-F238E27FC236}">
                <a16:creationId xmlns:a16="http://schemas.microsoft.com/office/drawing/2014/main" id="{80283757-8BA3-4B87-AB43-2195D3BF0EE8}"/>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Assessment: high concern for complex or consequential cases</a:t>
            </a:r>
          </a:p>
        </p:txBody>
      </p:sp>
    </p:spTree>
    <p:extLst>
      <p:ext uri="{BB962C8B-B14F-4D97-AF65-F5344CB8AC3E}">
        <p14:creationId xmlns:p14="http://schemas.microsoft.com/office/powerpoint/2010/main" val="2088017440"/>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4DEDB2-E407-40C4-A396-BCA7DCA1550C}"/>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Options for human–AI teaming</a:t>
            </a:r>
          </a:p>
        </p:txBody>
      </p:sp>
      <p:sp>
        <p:nvSpPr>
          <p:cNvPr id="2" name="">
            <a:extLst xmlns:a="http://schemas.openxmlformats.org/drawingml/2006/main">
              <a:ext uri="{FF2B5EF4-FFF2-40B4-BE49-F238E27FC236}">
                <a16:creationId xmlns:a16="http://schemas.microsoft.com/office/drawing/2014/main" id="{BC05C9B3-4B81-4591-8666-0D5214484A74}"/>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06</a:t>
            </a:r>
          </a:p>
        </p:txBody>
      </p:sp>
      <p:sp>
        <p:nvSpPr>
          <p:cNvPr id="3" name="">
            <a:extLst xmlns:a="http://schemas.openxmlformats.org/drawingml/2006/main">
              <a:ext uri="{FF2B5EF4-FFF2-40B4-BE49-F238E27FC236}">
                <a16:creationId xmlns:a16="http://schemas.microsoft.com/office/drawing/2014/main" id="{79AB3FA8-FCAE-4DA8-8FF0-4DE399E1E048}"/>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Centaur model</a:t>
            </a:r>
          </a:p>
        </p:txBody>
      </p:sp>
      <p:sp>
        <p:nvSpPr>
          <p:cNvPr id="4" name="">
            <a:extLst xmlns:a="http://schemas.openxmlformats.org/drawingml/2006/main">
              <a:ext uri="{FF2B5EF4-FFF2-40B4-BE49-F238E27FC236}">
                <a16:creationId xmlns:a16="http://schemas.microsoft.com/office/drawing/2014/main" id="{61716A08-D76D-424F-8E2E-926154FA84BF}"/>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Divide tasks: SwiftBot answers verified FAQs, while agents resolve billing disputes and unusual technical faults.</a:t>
            </a:r>
          </a:p>
        </p:txBody>
      </p:sp>
      <p:sp>
        <p:nvSpPr>
          <p:cNvPr id="5" name="">
            <a:extLst xmlns:a="http://schemas.openxmlformats.org/drawingml/2006/main">
              <a:ext uri="{FF2B5EF4-FFF2-40B4-BE49-F238E27FC236}">
                <a16:creationId xmlns:a16="http://schemas.microsoft.com/office/drawing/2014/main" id="{1299C882-C7AF-407B-B094-E92C84CFD90E}"/>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Cyborg model</a:t>
            </a:r>
          </a:p>
        </p:txBody>
      </p:sp>
      <p:sp>
        <p:nvSpPr>
          <p:cNvPr id="6" name="">
            <a:extLst xmlns:a="http://schemas.openxmlformats.org/drawingml/2006/main">
              <a:ext uri="{FF2B5EF4-FFF2-40B4-BE49-F238E27FC236}">
                <a16:creationId xmlns:a16="http://schemas.microsoft.com/office/drawing/2014/main" id="{C0E2E2C7-6177-4656-B9E4-B12EDC350962}"/>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An agent works with AI during the same interaction, checking suggested responses and adapting them to the customer.</a:t>
            </a:r>
          </a:p>
        </p:txBody>
      </p:sp>
      <p:sp>
        <p:nvSpPr>
          <p:cNvPr id="7" name="">
            <a:extLst xmlns:a="http://schemas.openxmlformats.org/drawingml/2006/main">
              <a:ext uri="{FF2B5EF4-FFF2-40B4-BE49-F238E27FC236}">
                <a16:creationId xmlns:a16="http://schemas.microsoft.com/office/drawing/2014/main" id="{C51A742C-7769-4516-BD0B-C2A01A3F6DA4}"/>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AI in the background</a:t>
            </a:r>
          </a:p>
        </p:txBody>
      </p:sp>
      <p:sp>
        <p:nvSpPr>
          <p:cNvPr id="8" name="">
            <a:extLst xmlns:a="http://schemas.openxmlformats.org/drawingml/2006/main">
              <a:ext uri="{FF2B5EF4-FFF2-40B4-BE49-F238E27FC236}">
                <a16:creationId xmlns:a16="http://schemas.microsoft.com/office/drawing/2014/main" id="{E9980207-C664-41C7-9402-5E373CAB2A92}"/>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AI summarizes calls, searches policy and prepares notes. Agents own customer communication and decisions.</a:t>
            </a:r>
          </a:p>
        </p:txBody>
      </p:sp>
      <p:sp>
        <p:nvSpPr>
          <p:cNvPr id="9" name="">
            <a:extLst xmlns:a="http://schemas.openxmlformats.org/drawingml/2006/main">
              <a:ext uri="{FF2B5EF4-FFF2-40B4-BE49-F238E27FC236}">
                <a16:creationId xmlns:a16="http://schemas.microsoft.com/office/drawing/2014/main" id="{C014A89A-C7B3-4659-9BE0-4CD78188E1E6}"/>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Recommended mix</a:t>
            </a:r>
          </a:p>
        </p:txBody>
      </p:sp>
      <p:sp>
        <p:nvSpPr>
          <p:cNvPr id="10" name="">
            <a:extLst xmlns:a="http://schemas.openxmlformats.org/drawingml/2006/main">
              <a:ext uri="{FF2B5EF4-FFF2-40B4-BE49-F238E27FC236}">
                <a16:creationId xmlns:a16="http://schemas.microsoft.com/office/drawing/2014/main" id="{F592F7DA-A979-4051-BC01-5DD4CAC0AD08}"/>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Use limited self-service plus an agent copilot. Customers can request a person at any point.</a:t>
            </a:r>
          </a:p>
        </p:txBody>
      </p:sp>
      <p:sp>
        <p:nvSpPr>
          <p:cNvPr id="11" name="">
            <a:extLst xmlns:a="http://schemas.openxmlformats.org/drawingml/2006/main">
              <a:ext uri="{FF2B5EF4-FFF2-40B4-BE49-F238E27FC236}">
                <a16:creationId xmlns:a16="http://schemas.microsoft.com/office/drawing/2014/main" id="{6CFC0BF1-410F-4CB7-9327-6CAE6514121E}"/>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Source: Mollick (2023)</a:t>
            </a:r>
          </a:p>
        </p:txBody>
      </p:sp>
    </p:spTree>
    <p:extLst>
      <p:ext uri="{BB962C8B-B14F-4D97-AF65-F5344CB8AC3E}">
        <p14:creationId xmlns:p14="http://schemas.microsoft.com/office/powerpoint/2010/main" val="1653749885"/>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9C12B9C-F142-43EF-9756-971A41FA14B2}"/>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Human–AI teaming: costs and benefits</a:t>
            </a:r>
          </a:p>
        </p:txBody>
      </p:sp>
      <p:sp>
        <p:nvSpPr>
          <p:cNvPr id="2" name="">
            <a:extLst xmlns:a="http://schemas.openxmlformats.org/drawingml/2006/main">
              <a:ext uri="{FF2B5EF4-FFF2-40B4-BE49-F238E27FC236}">
                <a16:creationId xmlns:a16="http://schemas.microsoft.com/office/drawing/2014/main" id="{48CF6740-46B1-417F-841E-D3F5E34AF2E4}"/>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07</a:t>
            </a:r>
          </a:p>
        </p:txBody>
      </p:sp>
      <p:sp>
        <p:nvSpPr>
          <p:cNvPr id="3" name="">
            <a:extLst xmlns:a="http://schemas.openxmlformats.org/drawingml/2006/main">
              <a:ext uri="{FF2B5EF4-FFF2-40B4-BE49-F238E27FC236}">
                <a16:creationId xmlns:a16="http://schemas.microsoft.com/office/drawing/2014/main" id="{3DDB0ACB-D3D5-4064-B3E7-F0B97D3CEDBE}"/>
              </a:ext>
            </a:extLst>
          </p:cNvPr>
          <p:cNvSpPr>
            <a:spLocks xmlns:a="http://schemas.openxmlformats.org/drawingml/2006/main" noGrp="1"/>
          </p:cNvSpPr>
          <p:nvPr/>
        </p:nvSpPr>
        <p:spPr>
          <a:xfrm xmlns:a="http://schemas.openxmlformats.org/drawingml/2006/main">
            <a:off x="60960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2"/>
                </a:solidFill>
                <a:latin typeface="Bitstream Charter"/>
                <a:ea typeface="Bitstream Charter"/>
                <a:cs typeface="Bitstream Charter"/>
              </a:defRPr>
            </a:pPr>
            <a:r>
              <a:rPr sz="2325" b="1">
                <a:solidFill>
                  <a:srgbClr val="087F82"/>
                </a:solidFill>
                <a:latin typeface="Bitstream Charter"/>
                <a:ea typeface="Bitstream Charter"/>
                <a:cs typeface="Bitstream Charter"/>
              </a:rPr>
              <a:t>Potential benefits</a:t>
            </a:r>
          </a:p>
        </p:txBody>
      </p:sp>
      <p:sp>
        <p:nvSpPr>
          <p:cNvPr id="4" name="">
            <a:extLst xmlns:a="http://schemas.openxmlformats.org/drawingml/2006/main">
              <a:ext uri="{FF2B5EF4-FFF2-40B4-BE49-F238E27FC236}">
                <a16:creationId xmlns:a16="http://schemas.microsoft.com/office/drawing/2014/main" id="{83F359E8-34B8-4E7C-A1A2-B2824C912DC6}"/>
              </a:ext>
            </a:extLst>
          </p:cNvPr>
          <p:cNvSpPr>
            <a:spLocks xmlns:a="http://schemas.openxmlformats.org/drawingml/2006/main" noGrp="1"/>
          </p:cNvSpPr>
          <p:nvPr/>
        </p:nvSpPr>
        <p:spPr>
          <a:xfrm xmlns:a="http://schemas.openxmlformats.org/drawingml/2006/main">
            <a:off x="6381750" y="1619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F82"/>
                </a:solidFill>
                <a:latin typeface="Bitstream Charter"/>
                <a:ea typeface="Bitstream Charter"/>
                <a:cs typeface="Bitstream Charter"/>
              </a:defRPr>
            </a:pPr>
            <a:r>
              <a:rPr sz="2325" b="1">
                <a:solidFill>
                  <a:srgbClr val="087F82"/>
                </a:solidFill>
                <a:latin typeface="Bitstream Charter"/>
                <a:ea typeface="Bitstream Charter"/>
                <a:cs typeface="Bitstream Charter"/>
              </a:rPr>
              <a:t>Costs and tradeoffs</a:t>
            </a:r>
          </a:p>
        </p:txBody>
      </p:sp>
      <p:sp>
        <p:nvSpPr>
          <p:cNvPr id="5" name="">
            <a:extLst xmlns:a="http://schemas.openxmlformats.org/drawingml/2006/main">
              <a:ext uri="{FF2B5EF4-FFF2-40B4-BE49-F238E27FC236}">
                <a16:creationId xmlns:a16="http://schemas.microsoft.com/office/drawing/2014/main" id="{A4A189D7-DC24-43AE-A11C-EF8A85F16082}"/>
              </a:ext>
            </a:extLst>
          </p:cNvPr>
          <p:cNvSpPr>
            <a:spLocks xmlns:a="http://schemas.openxmlformats.org/drawingml/2006/main" noGrp="1"/>
          </p:cNvSpPr>
          <p:nvPr/>
        </p:nvSpPr>
        <p:spPr>
          <a:xfrm xmlns:a="http://schemas.openxmlformats.org/drawingml/2006/main">
            <a:off x="609600" y="2286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AI reduces time spent searching policies and writing routine notes.</a:t>
            </a:r>
          </a:p>
        </p:txBody>
      </p:sp>
      <p:sp>
        <p:nvSpPr>
          <p:cNvPr id="6" name="">
            <a:extLst xmlns:a="http://schemas.openxmlformats.org/drawingml/2006/main">
              <a:ext uri="{FF2B5EF4-FFF2-40B4-BE49-F238E27FC236}">
                <a16:creationId xmlns:a16="http://schemas.microsoft.com/office/drawing/2014/main" id="{3648F031-5D03-40AD-A044-688E5C6CDCAC}"/>
              </a:ext>
            </a:extLst>
          </p:cNvPr>
          <p:cNvSpPr>
            <a:spLocks xmlns:a="http://schemas.openxmlformats.org/drawingml/2006/main" noGrp="1"/>
          </p:cNvSpPr>
          <p:nvPr/>
        </p:nvSpPr>
        <p:spPr>
          <a:xfrm xmlns:a="http://schemas.openxmlformats.org/drawingml/2006/main">
            <a:off x="609600" y="3238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Agents contribute empathy, contextual judgment and authority to resolve exceptions.</a:t>
            </a:r>
          </a:p>
        </p:txBody>
      </p:sp>
      <p:sp>
        <p:nvSpPr>
          <p:cNvPr id="7" name="">
            <a:extLst xmlns:a="http://schemas.openxmlformats.org/drawingml/2006/main">
              <a:ext uri="{FF2B5EF4-FFF2-40B4-BE49-F238E27FC236}">
                <a16:creationId xmlns:a16="http://schemas.microsoft.com/office/drawing/2014/main" id="{0E713FCE-ED7E-4DAA-BAE3-95E87C47B7E4}"/>
              </a:ext>
            </a:extLst>
          </p:cNvPr>
          <p:cNvSpPr>
            <a:spLocks xmlns:a="http://schemas.openxmlformats.org/drawingml/2006/main" noGrp="1"/>
          </p:cNvSpPr>
          <p:nvPr/>
        </p:nvSpPr>
        <p:spPr>
          <a:xfrm xmlns:a="http://schemas.openxmlformats.org/drawingml/2006/main">
            <a:off x="609600" y="4191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Redeployment preserves experience and creates roles in quality review and AI operations.</a:t>
            </a:r>
          </a:p>
        </p:txBody>
      </p:sp>
      <p:sp>
        <p:nvSpPr>
          <p:cNvPr id="8" name="">
            <a:extLst xmlns:a="http://schemas.openxmlformats.org/drawingml/2006/main">
              <a:ext uri="{FF2B5EF4-FFF2-40B4-BE49-F238E27FC236}">
                <a16:creationId xmlns:a16="http://schemas.microsoft.com/office/drawing/2014/main" id="{154D8CA3-E826-4ECB-9878-0BB98524634E}"/>
              </a:ext>
            </a:extLst>
          </p:cNvPr>
          <p:cNvSpPr>
            <a:spLocks xmlns:a="http://schemas.openxmlformats.org/drawingml/2006/main" noGrp="1"/>
          </p:cNvSpPr>
          <p:nvPr/>
        </p:nvSpPr>
        <p:spPr>
          <a:xfrm xmlns:a="http://schemas.openxmlformats.org/drawingml/2006/main">
            <a:off x="6381750" y="2286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Retained staffing plus AI expenses may reduce short-term savings.</a:t>
            </a:r>
          </a:p>
        </p:txBody>
      </p:sp>
      <p:sp>
        <p:nvSpPr>
          <p:cNvPr id="9" name="">
            <a:extLst xmlns:a="http://schemas.openxmlformats.org/drawingml/2006/main">
              <a:ext uri="{FF2B5EF4-FFF2-40B4-BE49-F238E27FC236}">
                <a16:creationId xmlns:a16="http://schemas.microsoft.com/office/drawing/2014/main" id="{FB243448-D150-4BF1-867F-CE0DA7B904AA}"/>
              </a:ext>
            </a:extLst>
          </p:cNvPr>
          <p:cNvSpPr>
            <a:spLocks xmlns:a="http://schemas.openxmlformats.org/drawingml/2006/main" noGrp="1"/>
          </p:cNvSpPr>
          <p:nvPr/>
        </p:nvSpPr>
        <p:spPr>
          <a:xfrm xmlns:a="http://schemas.openxmlformats.org/drawingml/2006/main">
            <a:off x="6381750" y="32385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Paid training, workflow integration and meaningful review require resources.</a:t>
            </a:r>
          </a:p>
        </p:txBody>
      </p:sp>
      <p:sp>
        <p:nvSpPr>
          <p:cNvPr id="10" name="">
            <a:extLst xmlns:a="http://schemas.openxmlformats.org/drawingml/2006/main">
              <a:ext uri="{FF2B5EF4-FFF2-40B4-BE49-F238E27FC236}">
                <a16:creationId xmlns:a16="http://schemas.microsoft.com/office/drawing/2014/main" id="{608FAB34-034C-4D6D-8EA7-9E6062ADFCFA}"/>
              </a:ext>
            </a:extLst>
          </p:cNvPr>
          <p:cNvSpPr>
            <a:spLocks xmlns:a="http://schemas.openxmlformats.org/drawingml/2006/main" noGrp="1"/>
          </p:cNvSpPr>
          <p:nvPr/>
        </p:nvSpPr>
        <p:spPr>
          <a:xfrm xmlns:a="http://schemas.openxmlformats.org/drawingml/2006/main">
            <a:off x="6381750" y="41910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Poor handoffs can duplicate effort and increase waiting time.</a:t>
            </a:r>
          </a:p>
        </p:txBody>
      </p:sp>
      <p:sp>
        <p:nvSpPr>
          <p:cNvPr id="11" name="">
            <a:extLst xmlns:a="http://schemas.openxmlformats.org/drawingml/2006/main">
              <a:ext uri="{FF2B5EF4-FFF2-40B4-BE49-F238E27FC236}">
                <a16:creationId xmlns:a16="http://schemas.microsoft.com/office/drawing/2014/main" id="{E43437EF-90BA-4D57-AA21-E83DF1F120E8}"/>
              </a:ext>
            </a:extLst>
          </p:cNvPr>
          <p:cNvSpPr>
            <a:spLocks xmlns:a="http://schemas.openxmlformats.org/drawingml/2006/main" noGrp="1"/>
          </p:cNvSpPr>
          <p:nvPr/>
        </p:nvSpPr>
        <p:spPr>
          <a:xfrm xmlns:a="http://schemas.openxmlformats.org/drawingml/2006/main">
            <a:off x="609600" y="6048375"/>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Business case: compare resolution quality and total cost against the current service baseline.</a:t>
            </a:r>
          </a:p>
        </p:txBody>
      </p:sp>
    </p:spTree>
    <p:extLst>
      <p:ext uri="{BB962C8B-B14F-4D97-AF65-F5344CB8AC3E}">
        <p14:creationId xmlns:p14="http://schemas.microsoft.com/office/powerpoint/2010/main" val="595945594"/>
      </p:ext>
    </p:extLst>
  </p:cSld>
</p:sld>
</file>

<file path=ppt/slides/slide8.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385D93A-52A6-4C9F-8395-95919E509BB1}"/>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Human–AI teaming: RAI risks and controls</a:t>
            </a:r>
          </a:p>
        </p:txBody>
      </p:sp>
      <p:sp>
        <p:nvSpPr>
          <p:cNvPr id="2" name="">
            <a:extLst xmlns:a="http://schemas.openxmlformats.org/drawingml/2006/main">
              <a:ext uri="{FF2B5EF4-FFF2-40B4-BE49-F238E27FC236}">
                <a16:creationId xmlns:a16="http://schemas.microsoft.com/office/drawing/2014/main" id="{7F1F3CBB-161B-452C-A995-175A83285771}"/>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08</a:t>
            </a:r>
          </a:p>
        </p:txBody>
      </p:sp>
      <p:sp>
        <p:nvSpPr>
          <p:cNvPr id="3" name="">
            <a:extLst xmlns:a="http://schemas.openxmlformats.org/drawingml/2006/main">
              <a:ext uri="{FF2B5EF4-FFF2-40B4-BE49-F238E27FC236}">
                <a16:creationId xmlns:a16="http://schemas.microsoft.com/office/drawing/2014/main" id="{78AB2D1F-D808-41DC-8735-12571C41720D}"/>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Automation bias</a:t>
            </a:r>
          </a:p>
        </p:txBody>
      </p:sp>
      <p:sp>
        <p:nvSpPr>
          <p:cNvPr id="4" name="">
            <a:extLst xmlns:a="http://schemas.openxmlformats.org/drawingml/2006/main">
              <a:ext uri="{FF2B5EF4-FFF2-40B4-BE49-F238E27FC236}">
                <a16:creationId xmlns:a16="http://schemas.microsoft.com/office/drawing/2014/main" id="{72617CED-2D28-4B8F-939F-1BB7ECBABB5E}"/>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Agents may accept plausible errors. Show policy sources and require checks for consequential actions.</a:t>
            </a:r>
          </a:p>
        </p:txBody>
      </p:sp>
      <p:sp>
        <p:nvSpPr>
          <p:cNvPr id="5" name="">
            <a:extLst xmlns:a="http://schemas.openxmlformats.org/drawingml/2006/main">
              <a:ext uri="{FF2B5EF4-FFF2-40B4-BE49-F238E27FC236}">
                <a16:creationId xmlns:a16="http://schemas.microsoft.com/office/drawing/2014/main" id="{05CE4EAE-99A5-4FE1-A809-575C358F99C1}"/>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Token oversight</a:t>
            </a:r>
          </a:p>
        </p:txBody>
      </p:sp>
      <p:sp>
        <p:nvSpPr>
          <p:cNvPr id="6" name="">
            <a:extLst xmlns:a="http://schemas.openxmlformats.org/drawingml/2006/main">
              <a:ext uri="{FF2B5EF4-FFF2-40B4-BE49-F238E27FC236}">
                <a16:creationId xmlns:a16="http://schemas.microsoft.com/office/drawing/2014/main" id="{231E39B4-E8A2-46E5-8FA9-E3A886CCB12B}"/>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Speed targets may prevent real review. Give agents time and authority to reject recommendations.</a:t>
            </a:r>
          </a:p>
        </p:txBody>
      </p:sp>
      <p:sp>
        <p:nvSpPr>
          <p:cNvPr id="7" name="">
            <a:extLst xmlns:a="http://schemas.openxmlformats.org/drawingml/2006/main">
              <a:ext uri="{FF2B5EF4-FFF2-40B4-BE49-F238E27FC236}">
                <a16:creationId xmlns:a16="http://schemas.microsoft.com/office/drawing/2014/main" id="{32331990-37CA-43AD-9848-7157687A25BB}"/>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Skill loss and stress</a:t>
            </a:r>
          </a:p>
        </p:txBody>
      </p:sp>
      <p:sp>
        <p:nvSpPr>
          <p:cNvPr id="8" name="">
            <a:extLst xmlns:a="http://schemas.openxmlformats.org/drawingml/2006/main">
              <a:ext uri="{FF2B5EF4-FFF2-40B4-BE49-F238E27FC236}">
                <a16:creationId xmlns:a16="http://schemas.microsoft.com/office/drawing/2014/main" id="{5BE6CCE2-322F-45B8-B0E7-89AE276955D8}"/>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Routine automation may leave only difficult calls. Rotate duties, coach agents and retain independent practice.</a:t>
            </a:r>
          </a:p>
        </p:txBody>
      </p:sp>
      <p:sp>
        <p:nvSpPr>
          <p:cNvPr id="9" name="">
            <a:extLst xmlns:a="http://schemas.openxmlformats.org/drawingml/2006/main">
              <a:ext uri="{FF2B5EF4-FFF2-40B4-BE49-F238E27FC236}">
                <a16:creationId xmlns:a16="http://schemas.microsoft.com/office/drawing/2014/main" id="{3C7614EC-2B6E-42DD-AD1C-D063033BACAD}"/>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Shared accountability</a:t>
            </a:r>
          </a:p>
        </p:txBody>
      </p:sp>
      <p:sp>
        <p:nvSpPr>
          <p:cNvPr id="10" name="">
            <a:extLst xmlns:a="http://schemas.openxmlformats.org/drawingml/2006/main">
              <a:ext uri="{FF2B5EF4-FFF2-40B4-BE49-F238E27FC236}">
                <a16:creationId xmlns:a16="http://schemas.microsoft.com/office/drawing/2014/main" id="{762B589D-2E84-45B4-81EF-339738CD9130}"/>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Define who approves actions and audits outcomes. Restrict access and avoid using unvalidated AI scores for discipline.</a:t>
            </a:r>
          </a:p>
        </p:txBody>
      </p:sp>
      <p:sp>
        <p:nvSpPr>
          <p:cNvPr id="11" name="">
            <a:extLst xmlns:a="http://schemas.openxmlformats.org/drawingml/2006/main">
              <a:ext uri="{FF2B5EF4-FFF2-40B4-BE49-F238E27FC236}">
                <a16:creationId xmlns:a16="http://schemas.microsoft.com/office/drawing/2014/main" id="{0BA6C9C6-3008-4563-B7E2-AFD9AB8672FB}"/>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Residual risk remains even when a human participates</a:t>
            </a:r>
          </a:p>
        </p:txBody>
      </p:sp>
    </p:spTree>
    <p:extLst>
      <p:ext uri="{BB962C8B-B14F-4D97-AF65-F5344CB8AC3E}">
        <p14:creationId xmlns:p14="http://schemas.microsoft.com/office/powerpoint/2010/main" val="20408448"/>
      </p:ext>
    </p:extLst>
  </p:cSld>
</p:sld>
</file>

<file path=ppt/slides/slide9.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49B4F55-6394-4052-979C-133750130E4B}"/>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Recommended approach and justification</a:t>
            </a:r>
          </a:p>
        </p:txBody>
      </p:sp>
      <p:sp>
        <p:nvSpPr>
          <p:cNvPr id="2" name="">
            <a:extLst xmlns:a="http://schemas.openxmlformats.org/drawingml/2006/main">
              <a:ext uri="{FF2B5EF4-FFF2-40B4-BE49-F238E27FC236}">
                <a16:creationId xmlns:a16="http://schemas.microsoft.com/office/drawing/2014/main" id="{23F6FA28-9822-463D-9A8B-CF3436BD1194}"/>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09</a:t>
            </a:r>
          </a:p>
        </p:txBody>
      </p:sp>
      <p:sp>
        <p:nvSpPr>
          <p:cNvPr id="3" name="">
            <a:extLst xmlns:a="http://schemas.openxmlformats.org/drawingml/2006/main">
              <a:ext uri="{FF2B5EF4-FFF2-40B4-BE49-F238E27FC236}">
                <a16:creationId xmlns:a16="http://schemas.microsoft.com/office/drawing/2014/main" id="{D738FE2A-96D5-41FF-A028-B3154E015A73}"/>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Scope</a:t>
            </a:r>
          </a:p>
        </p:txBody>
      </p:sp>
      <p:sp>
        <p:nvSpPr>
          <p:cNvPr id="4" name="">
            <a:extLst xmlns:a="http://schemas.openxmlformats.org/drawingml/2006/main">
              <a:ext uri="{FF2B5EF4-FFF2-40B4-BE49-F238E27FC236}">
                <a16:creationId xmlns:a16="http://schemas.microsoft.com/office/drawing/2014/main" id="{7C8989F2-D980-4B5E-8315-79A2847D5A74}"/>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Pause expansion toward the 80% target. Begin with FAQs and basic troubleshooting using approved knowledge.</a:t>
            </a:r>
          </a:p>
        </p:txBody>
      </p:sp>
      <p:sp>
        <p:nvSpPr>
          <p:cNvPr id="5" name="">
            <a:extLst xmlns:a="http://schemas.openxmlformats.org/drawingml/2006/main">
              <a:ext uri="{FF2B5EF4-FFF2-40B4-BE49-F238E27FC236}">
                <a16:creationId xmlns:a16="http://schemas.microsoft.com/office/drawing/2014/main" id="{39FF9B1E-9EE0-4784-AF23-7E92E8BBD417}"/>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Human control</a:t>
            </a:r>
          </a:p>
        </p:txBody>
      </p:sp>
      <p:sp>
        <p:nvSpPr>
          <p:cNvPr id="6" name="">
            <a:extLst xmlns:a="http://schemas.openxmlformats.org/drawingml/2006/main">
              <a:ext uri="{FF2B5EF4-FFF2-40B4-BE49-F238E27FC236}">
                <a16:creationId xmlns:a16="http://schemas.microsoft.com/office/drawing/2014/main" id="{838845B5-7DC5-4B31-A8A1-EC604C13A3A4}"/>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Route disputes, suspected fraud and consequential account changes to agents. Remove the mandatory three-attempt wait.</a:t>
            </a:r>
          </a:p>
        </p:txBody>
      </p:sp>
      <p:sp>
        <p:nvSpPr>
          <p:cNvPr id="7" name="">
            <a:extLst xmlns:a="http://schemas.openxmlformats.org/drawingml/2006/main">
              <a:ext uri="{FF2B5EF4-FFF2-40B4-BE49-F238E27FC236}">
                <a16:creationId xmlns:a16="http://schemas.microsoft.com/office/drawing/2014/main" id="{5FAF516B-405F-4298-B57F-83A3D4D973A4}"/>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Service design</a:t>
            </a:r>
          </a:p>
        </p:txBody>
      </p:sp>
      <p:sp>
        <p:nvSpPr>
          <p:cNvPr id="8" name="">
            <a:extLst xmlns:a="http://schemas.openxmlformats.org/drawingml/2006/main">
              <a:ext uri="{FF2B5EF4-FFF2-40B4-BE49-F238E27FC236}">
                <a16:creationId xmlns:a16="http://schemas.microsoft.com/office/drawing/2014/main" id="{9885517C-858B-4C6E-B717-5BF6726E4669}"/>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Disclose SwiftBot, offer immediate human help, and transfer the conversation history to prevent repetition.</a:t>
            </a:r>
          </a:p>
        </p:txBody>
      </p:sp>
      <p:sp>
        <p:nvSpPr>
          <p:cNvPr id="9" name="">
            <a:extLst xmlns:a="http://schemas.openxmlformats.org/drawingml/2006/main">
              <a:ext uri="{FF2B5EF4-FFF2-40B4-BE49-F238E27FC236}">
                <a16:creationId xmlns:a16="http://schemas.microsoft.com/office/drawing/2014/main" id="{BEB903D8-DD9C-4CBA-8931-5628001A248D}"/>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Justification</a:t>
            </a:r>
          </a:p>
        </p:txBody>
      </p:sp>
      <p:sp>
        <p:nvSpPr>
          <p:cNvPr id="10" name="">
            <a:extLst xmlns:a="http://schemas.openxmlformats.org/drawingml/2006/main">
              <a:ext uri="{FF2B5EF4-FFF2-40B4-BE49-F238E27FC236}">
                <a16:creationId xmlns:a16="http://schemas.microsoft.com/office/drawing/2014/main" id="{59B40497-145C-4329-AC68-22BD9D9A3386}"/>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Task-specific automation can improve access while people address ambiguity. Retaining and developing talent protects work dignity.</a:t>
            </a:r>
          </a:p>
        </p:txBody>
      </p:sp>
      <p:sp>
        <p:nvSpPr>
          <p:cNvPr id="11" name="">
            <a:extLst xmlns:a="http://schemas.openxmlformats.org/drawingml/2006/main">
              <a:ext uri="{FF2B5EF4-FFF2-40B4-BE49-F238E27FC236}">
                <a16:creationId xmlns:a16="http://schemas.microsoft.com/office/drawing/2014/main" id="{2B424562-5281-4711-89DD-CBAD55B73BAF}"/>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Support: Mollick (2023), Gartner (2025), USCCB (n.d.)</a:t>
            </a:r>
          </a:p>
        </p:txBody>
      </p:sp>
    </p:spTree>
    <p:extLst>
      <p:ext uri="{BB962C8B-B14F-4D97-AF65-F5344CB8AC3E}">
        <p14:creationId xmlns:p14="http://schemas.microsoft.com/office/powerpoint/2010/main" val="664505610"/>
      </p:ext>
    </p:extLst>
  </p:cSld>
</p:sld>
</file>

<file path=ppt/slides/slide10.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1B669A4-F501-42A0-AD9F-9CBFA5EC6361}"/>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Implementation and workforce transition</a:t>
            </a:r>
          </a:p>
        </p:txBody>
      </p:sp>
      <p:sp>
        <p:nvSpPr>
          <p:cNvPr id="2" name="">
            <a:extLst xmlns:a="http://schemas.openxmlformats.org/drawingml/2006/main">
              <a:ext uri="{FF2B5EF4-FFF2-40B4-BE49-F238E27FC236}">
                <a16:creationId xmlns:a16="http://schemas.microsoft.com/office/drawing/2014/main" id="{0AA7EAC8-881F-4ED4-93D5-2B19FF79A3C4}"/>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10</a:t>
            </a:r>
          </a:p>
        </p:txBody>
      </p:sp>
      <p:sp>
        <p:nvSpPr>
          <p:cNvPr id="3" name="">
            <a:extLst xmlns:a="http://schemas.openxmlformats.org/drawingml/2006/main">
              <a:ext uri="{FF2B5EF4-FFF2-40B4-BE49-F238E27FC236}">
                <a16:creationId xmlns:a16="http://schemas.microsoft.com/office/drawing/2014/main" id="{E4A1F19C-593B-4F46-8062-C120DE233EF8}"/>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Days 1–30</a:t>
            </a:r>
          </a:p>
        </p:txBody>
      </p:sp>
      <p:sp>
        <p:nvSpPr>
          <p:cNvPr id="4" name="">
            <a:extLst xmlns:a="http://schemas.openxmlformats.org/drawingml/2006/main">
              <a:ext uri="{FF2B5EF4-FFF2-40B4-BE49-F238E27FC236}">
                <a16:creationId xmlns:a16="http://schemas.microsoft.com/office/drawing/2014/main" id="{8B14143B-DBA2-4F8F-A382-966FC3284272}"/>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Service lead establishes a baseline and consults agents. RAI lead reviews privacy, accessibility and approved use cases.</a:t>
            </a:r>
          </a:p>
        </p:txBody>
      </p:sp>
      <p:sp>
        <p:nvSpPr>
          <p:cNvPr id="5" name="">
            <a:extLst xmlns:a="http://schemas.openxmlformats.org/drawingml/2006/main">
              <a:ext uri="{FF2B5EF4-FFF2-40B4-BE49-F238E27FC236}">
                <a16:creationId xmlns:a16="http://schemas.microsoft.com/office/drawing/2014/main" id="{9D220185-E7BA-415C-882D-FC829820C866}"/>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Days 31–60</a:t>
            </a:r>
          </a:p>
        </p:txBody>
      </p:sp>
      <p:sp>
        <p:nvSpPr>
          <p:cNvPr id="6" name="">
            <a:extLst xmlns:a="http://schemas.openxmlformats.org/drawingml/2006/main">
              <a:ext uri="{FF2B5EF4-FFF2-40B4-BE49-F238E27FC236}">
                <a16:creationId xmlns:a16="http://schemas.microsoft.com/office/drawing/2014/main" id="{5DBE52CD-0067-4676-86DB-1AAD0BCC2131}"/>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Pilot with a limited customer group. HR provides paid training in verification, escalation and sensitive customer interactions.</a:t>
            </a:r>
          </a:p>
        </p:txBody>
      </p:sp>
      <p:sp>
        <p:nvSpPr>
          <p:cNvPr id="7" name="">
            <a:extLst xmlns:a="http://schemas.openxmlformats.org/drawingml/2006/main">
              <a:ext uri="{FF2B5EF4-FFF2-40B4-BE49-F238E27FC236}">
                <a16:creationId xmlns:a16="http://schemas.microsoft.com/office/drawing/2014/main" id="{ACFBF753-60F6-44ED-9C05-28D9FD817BF1}"/>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Days 61–90</a:t>
            </a:r>
          </a:p>
        </p:txBody>
      </p:sp>
      <p:sp>
        <p:nvSpPr>
          <p:cNvPr id="8" name="">
            <a:extLst xmlns:a="http://schemas.openxmlformats.org/drawingml/2006/main">
              <a:ext uri="{FF2B5EF4-FFF2-40B4-BE49-F238E27FC236}">
                <a16:creationId xmlns:a16="http://schemas.microsoft.com/office/drawing/2014/main" id="{93E62EFA-6D96-466E-BE2F-0D70EBF28F8E}"/>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An independent quality team compares results with the baseline. Leadership expands only after the RAI committee approves.</a:t>
            </a:r>
          </a:p>
        </p:txBody>
      </p:sp>
      <p:sp>
        <p:nvSpPr>
          <p:cNvPr id="9" name="">
            <a:extLst xmlns:a="http://schemas.openxmlformats.org/drawingml/2006/main">
              <a:ext uri="{FF2B5EF4-FFF2-40B4-BE49-F238E27FC236}">
                <a16:creationId xmlns:a16="http://schemas.microsoft.com/office/drawing/2014/main" id="{972F1F92-E40B-4BA7-8065-04C70DC1115A}"/>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Ongoing support</a:t>
            </a:r>
          </a:p>
        </p:txBody>
      </p:sp>
      <p:sp>
        <p:nvSpPr>
          <p:cNvPr id="10" name="">
            <a:extLst xmlns:a="http://schemas.openxmlformats.org/drawingml/2006/main">
              <a:ext uri="{FF2B5EF4-FFF2-40B4-BE49-F238E27FC236}">
                <a16:creationId xmlns:a16="http://schemas.microsoft.com/office/drawing/2014/main" id="{D99F9DF6-9968-4C52-8BCC-4894283430DB}"/>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Redeploy staff into complex service and quality roles. If reductions become unavoidable, provide fair notice and transition assistance.</a:t>
            </a:r>
          </a:p>
        </p:txBody>
      </p:sp>
      <p:sp>
        <p:nvSpPr>
          <p:cNvPr id="11" name="">
            <a:extLst xmlns:a="http://schemas.openxmlformats.org/drawingml/2006/main">
              <a:ext uri="{FF2B5EF4-FFF2-40B4-BE49-F238E27FC236}">
                <a16:creationId xmlns:a16="http://schemas.microsoft.com/office/drawing/2014/main" id="{D28F6B46-4134-47D2-8EC3-819066C4F9E3}"/>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Proposed schedule, subject to SwiftTel’s resources and pilot findings</a:t>
            </a:r>
          </a:p>
        </p:txBody>
      </p:sp>
    </p:spTree>
    <p:extLst>
      <p:ext uri="{BB962C8B-B14F-4D97-AF65-F5344CB8AC3E}">
        <p14:creationId xmlns:p14="http://schemas.microsoft.com/office/powerpoint/2010/main" val="2049496760"/>
      </p:ext>
    </p:extLst>
  </p:cSld>
</p:sld>
</file>

<file path=ppt/slides/slide1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EA00C0-155D-4ACE-B6DF-6EA7AC176A73}"/>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Pilot criteria and continued oversight</a:t>
            </a:r>
          </a:p>
        </p:txBody>
      </p:sp>
      <p:sp>
        <p:nvSpPr>
          <p:cNvPr id="2" name="">
            <a:extLst xmlns:a="http://schemas.openxmlformats.org/drawingml/2006/main">
              <a:ext uri="{FF2B5EF4-FFF2-40B4-BE49-F238E27FC236}">
                <a16:creationId xmlns:a16="http://schemas.microsoft.com/office/drawing/2014/main" id="{AF0944DC-A9BC-466B-B802-9F329503392C}"/>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11</a:t>
            </a:r>
          </a:p>
        </p:txBody>
      </p:sp>
      <p:sp>
        <p:nvSpPr>
          <p:cNvPr id="3" name="">
            <a:extLst xmlns:a="http://schemas.openxmlformats.org/drawingml/2006/main">
              <a:ext uri="{FF2B5EF4-FFF2-40B4-BE49-F238E27FC236}">
                <a16:creationId xmlns:a16="http://schemas.microsoft.com/office/drawing/2014/main" id="{0439AFF7-EF1E-4E23-AA41-0DAB0EAB4629}"/>
              </a:ext>
            </a:extLst>
          </p:cNvPr>
          <p:cNvSpPr>
            <a:spLocks xmlns:a="http://schemas.openxmlformats.org/drawingml/2006/main" noGrp="1"/>
          </p:cNvSpPr>
          <p:nvPr/>
        </p:nvSpPr>
        <p:spPr>
          <a:xfrm xmlns:a="http://schemas.openxmlformats.org/drawingml/2006/main">
            <a:off x="609600" y="161925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Service quality</a:t>
            </a:r>
          </a:p>
        </p:txBody>
      </p:sp>
      <p:sp>
        <p:nvSpPr>
          <p:cNvPr id="4" name="">
            <a:extLst xmlns:a="http://schemas.openxmlformats.org/drawingml/2006/main">
              <a:ext uri="{FF2B5EF4-FFF2-40B4-BE49-F238E27FC236}">
                <a16:creationId xmlns:a16="http://schemas.microsoft.com/office/drawing/2014/main" id="{97271BE2-A07F-4940-99A2-2DF8AA2216B9}"/>
              </a:ext>
            </a:extLst>
          </p:cNvPr>
          <p:cNvSpPr>
            <a:spLocks xmlns:a="http://schemas.openxmlformats.org/drawingml/2006/main" noGrp="1"/>
          </p:cNvSpPr>
          <p:nvPr/>
        </p:nvSpPr>
        <p:spPr>
          <a:xfrm xmlns:a="http://schemas.openxmlformats.org/drawingml/2006/main">
            <a:off x="3333750" y="16192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Track first-contact resolution, repeat contacts and satisfaction. Expand only if results match or improve on the baseline.</a:t>
            </a:r>
          </a:p>
        </p:txBody>
      </p:sp>
      <p:sp>
        <p:nvSpPr>
          <p:cNvPr id="5" name="">
            <a:extLst xmlns:a="http://schemas.openxmlformats.org/drawingml/2006/main">
              <a:ext uri="{FF2B5EF4-FFF2-40B4-BE49-F238E27FC236}">
                <a16:creationId xmlns:a16="http://schemas.microsoft.com/office/drawing/2014/main" id="{AB7A86E9-7B23-4C96-B562-5C05F6CD2CD3}"/>
              </a:ext>
            </a:extLst>
          </p:cNvPr>
          <p:cNvSpPr>
            <a:spLocks xmlns:a="http://schemas.openxmlformats.org/drawingml/2006/main" noGrp="1"/>
          </p:cNvSpPr>
          <p:nvPr/>
        </p:nvSpPr>
        <p:spPr>
          <a:xfrm xmlns:a="http://schemas.openxmlformats.org/drawingml/2006/main">
            <a:off x="609600" y="261937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Fairness</a:t>
            </a:r>
          </a:p>
        </p:txBody>
      </p:sp>
      <p:sp>
        <p:nvSpPr>
          <p:cNvPr id="6" name="">
            <a:extLst xmlns:a="http://schemas.openxmlformats.org/drawingml/2006/main">
              <a:ext uri="{FF2B5EF4-FFF2-40B4-BE49-F238E27FC236}">
                <a16:creationId xmlns:a16="http://schemas.microsoft.com/office/drawing/2014/main" id="{6112144E-4871-4820-BC6E-27D310621310}"/>
              </a:ext>
            </a:extLst>
          </p:cNvPr>
          <p:cNvSpPr>
            <a:spLocks xmlns:a="http://schemas.openxmlformats.org/drawingml/2006/main" noGrp="1"/>
          </p:cNvSpPr>
          <p:nvPr/>
        </p:nvSpPr>
        <p:spPr>
          <a:xfrm xmlns:a="http://schemas.openxmlformats.org/drawingml/2006/main">
            <a:off x="3333750" y="26193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Compare error rates and human wait times across supported languages and accessibility needs, including sample sizes.</a:t>
            </a:r>
          </a:p>
        </p:txBody>
      </p:sp>
      <p:sp>
        <p:nvSpPr>
          <p:cNvPr id="7" name="">
            <a:extLst xmlns:a="http://schemas.openxmlformats.org/drawingml/2006/main">
              <a:ext uri="{FF2B5EF4-FFF2-40B4-BE49-F238E27FC236}">
                <a16:creationId xmlns:a16="http://schemas.microsoft.com/office/drawing/2014/main" id="{CB93454D-EE9E-4CDE-9986-1D6C6C167DC5}"/>
              </a:ext>
            </a:extLst>
          </p:cNvPr>
          <p:cNvSpPr>
            <a:spLocks xmlns:a="http://schemas.openxmlformats.org/drawingml/2006/main" noGrp="1"/>
          </p:cNvSpPr>
          <p:nvPr/>
        </p:nvSpPr>
        <p:spPr>
          <a:xfrm xmlns:a="http://schemas.openxmlformats.org/drawingml/2006/main">
            <a:off x="609600" y="3619500"/>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Cost and workforce</a:t>
            </a:r>
          </a:p>
        </p:txBody>
      </p:sp>
      <p:sp>
        <p:nvSpPr>
          <p:cNvPr id="8" name="">
            <a:extLst xmlns:a="http://schemas.openxmlformats.org/drawingml/2006/main">
              <a:ext uri="{FF2B5EF4-FFF2-40B4-BE49-F238E27FC236}">
                <a16:creationId xmlns:a16="http://schemas.microsoft.com/office/drawing/2014/main" id="{5DE79912-B5EE-4004-8EAC-99DC687DA3EA}"/>
              </a:ext>
            </a:extLst>
          </p:cNvPr>
          <p:cNvSpPr>
            <a:spLocks xmlns:a="http://schemas.openxmlformats.org/drawingml/2006/main" noGrp="1"/>
          </p:cNvSpPr>
          <p:nvPr/>
        </p:nvSpPr>
        <p:spPr>
          <a:xfrm xmlns:a="http://schemas.openxmlformats.org/drawingml/2006/main">
            <a:off x="3333750" y="3619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Measure total cost per resolved case, training completion, redeployment and agent workload. Finance and HR report monthly.</a:t>
            </a:r>
          </a:p>
        </p:txBody>
      </p:sp>
      <p:sp>
        <p:nvSpPr>
          <p:cNvPr id="9" name="">
            <a:extLst xmlns:a="http://schemas.openxmlformats.org/drawingml/2006/main">
              <a:ext uri="{FF2B5EF4-FFF2-40B4-BE49-F238E27FC236}">
                <a16:creationId xmlns:a16="http://schemas.microsoft.com/office/drawing/2014/main" id="{EC009CDA-D7A6-446A-A8C0-B1F92DA13E44}"/>
              </a:ext>
            </a:extLst>
          </p:cNvPr>
          <p:cNvSpPr>
            <a:spLocks xmlns:a="http://schemas.openxmlformats.org/drawingml/2006/main" noGrp="1"/>
          </p:cNvSpPr>
          <p:nvPr/>
        </p:nvSpPr>
        <p:spPr>
          <a:xfrm xmlns:a="http://schemas.openxmlformats.org/drawingml/2006/main">
            <a:off x="609600" y="4619625"/>
            <a:ext cx="247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82"/>
                </a:solidFill>
                <a:latin typeface="Bitstream Charter"/>
                <a:ea typeface="Bitstream Charter"/>
                <a:cs typeface="Bitstream Charter"/>
              </a:defRPr>
            </a:pPr>
            <a:r>
              <a:rPr sz="2025" b="1">
                <a:solidFill>
                  <a:srgbClr val="087F82"/>
                </a:solidFill>
                <a:latin typeface="Bitstream Charter"/>
                <a:ea typeface="Bitstream Charter"/>
                <a:cs typeface="Bitstream Charter"/>
              </a:rPr>
              <a:t>Stop and repair</a:t>
            </a:r>
          </a:p>
        </p:txBody>
      </p:sp>
      <p:sp>
        <p:nvSpPr>
          <p:cNvPr id="10" name="">
            <a:extLst xmlns:a="http://schemas.openxmlformats.org/drawingml/2006/main">
              <a:ext uri="{FF2B5EF4-FFF2-40B4-BE49-F238E27FC236}">
                <a16:creationId xmlns:a16="http://schemas.microsoft.com/office/drawing/2014/main" id="{9A7487DB-B570-4B4D-9DDD-5B7C636322E2}"/>
              </a:ext>
            </a:extLst>
          </p:cNvPr>
          <p:cNvSpPr>
            <a:spLocks xmlns:a="http://schemas.openxmlformats.org/drawingml/2006/main" noGrp="1"/>
          </p:cNvSpPr>
          <p:nvPr/>
        </p:nvSpPr>
        <p:spPr>
          <a:xfrm xmlns:a="http://schemas.openxmlformats.org/drawingml/2006/main">
            <a:off x="3333750" y="46196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33847"/>
                </a:solidFill>
                <a:latin typeface="Bitstream Charter"/>
                <a:ea typeface="Bitstream Charter"/>
                <a:cs typeface="Bitstream Charter"/>
              </a:defRPr>
            </a:pPr>
            <a:r>
              <a:rPr sz="2025" b="0">
                <a:solidFill>
                  <a:srgbClr val="233847"/>
                </a:solidFill>
                <a:latin typeface="Bitstream Charter"/>
                <a:ea typeface="Bitstream Charter"/>
                <a:cs typeface="Bitstream Charter"/>
              </a:rPr>
              <a:t>A serious privacy incident or harmful unauthorized action pauses the affected workflow. Correct it and retest before restarting.</a:t>
            </a:r>
          </a:p>
        </p:txBody>
      </p:sp>
      <p:sp>
        <p:nvSpPr>
          <p:cNvPr id="11" name="">
            <a:extLst xmlns:a="http://schemas.openxmlformats.org/drawingml/2006/main">
              <a:ext uri="{FF2B5EF4-FFF2-40B4-BE49-F238E27FC236}">
                <a16:creationId xmlns:a16="http://schemas.microsoft.com/office/drawing/2014/main" id="{165ABB4C-1822-470D-8AA2-C73B2C5D5156}"/>
              </a:ext>
            </a:extLst>
          </p:cNvPr>
          <p:cNvSpPr>
            <a:spLocks xmlns:a="http://schemas.openxmlformats.org/drawingml/2006/main" noGrp="1"/>
          </p:cNvSpPr>
          <p:nvPr/>
        </p:nvSpPr>
        <p:spPr>
          <a:xfrm xmlns:a="http://schemas.openxmlformats.org/drawingml/2006/main">
            <a:off x="609600" y="6048375"/>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Proposed acceptance criteria, not reported SwiftTel performance</a:t>
            </a:r>
          </a:p>
        </p:txBody>
      </p:sp>
    </p:spTree>
    <p:extLst>
      <p:ext uri="{BB962C8B-B14F-4D97-AF65-F5344CB8AC3E}">
        <p14:creationId xmlns:p14="http://schemas.microsoft.com/office/powerpoint/2010/main" val="1675849339"/>
      </p:ext>
    </p:extLst>
  </p:cSld>
</p:sld>
</file>

<file path=ppt/slides/slide1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263239-141D-4176-B74F-FF83244C3DEA}"/>
              </a:ext>
            </a:extLst>
          </p:cNvPr>
          <p:cNvSpPr>
            <a:spLocks xmlns:a="http://schemas.openxmlformats.org/drawingml/2006/main" noGrp="1"/>
          </p:cNvSpPr>
          <p:nvPr/>
        </p:nvSpPr>
        <p:spPr>
          <a:xfrm xmlns:a="http://schemas.openxmlformats.org/drawingml/2006/main">
            <a:off x="609600" y="457200"/>
            <a:ext cx="1095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3A46"/>
                </a:solidFill>
                <a:latin typeface="Bitstream Charter"/>
                <a:ea typeface="Bitstream Charter"/>
                <a:cs typeface="Bitstream Charter"/>
              </a:defRPr>
            </a:pPr>
            <a:r>
              <a:rPr sz="3225" b="1">
                <a:solidFill>
                  <a:srgbClr val="143A46"/>
                </a:solidFill>
                <a:latin typeface="Bitstream Charter"/>
                <a:ea typeface="Bitstream Charter"/>
                <a:cs typeface="Bitstream Charter"/>
              </a:rPr>
              <a:t>References</a:t>
            </a:r>
          </a:p>
        </p:txBody>
      </p:sp>
      <p:sp>
        <p:nvSpPr>
          <p:cNvPr id="2" name="">
            <a:extLst xmlns:a="http://schemas.openxmlformats.org/drawingml/2006/main">
              <a:ext uri="{FF2B5EF4-FFF2-40B4-BE49-F238E27FC236}">
                <a16:creationId xmlns:a16="http://schemas.microsoft.com/office/drawing/2014/main" id="{9F2B7DB4-787D-4A17-9D1A-E4F084E04B53}"/>
              </a:ext>
            </a:extLst>
          </p:cNvPr>
          <p:cNvSpPr>
            <a:spLocks xmlns:a="http://schemas.openxmlformats.org/drawingml/2006/main" noGrp="1"/>
          </p:cNvSpPr>
          <p:nvPr/>
        </p:nvSpPr>
        <p:spPr>
          <a:xfrm xmlns:a="http://schemas.openxmlformats.org/drawingml/2006/main">
            <a:off x="11144250" y="63341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780"/>
                </a:solidFill>
                <a:latin typeface="Bitstream Charter"/>
                <a:ea typeface="Bitstream Charter"/>
                <a:cs typeface="Bitstream Charter"/>
              </a:defRPr>
            </a:pPr>
            <a:r>
              <a:rPr sz="1350" b="0">
                <a:solidFill>
                  <a:srgbClr val="647780"/>
                </a:solidFill>
                <a:latin typeface="Bitstream Charter"/>
                <a:ea typeface="Bitstream Charter"/>
                <a:cs typeface="Bitstream Charter"/>
              </a:rPr>
              <a:t>12</a:t>
            </a:r>
          </a:p>
        </p:txBody>
      </p:sp>
      <p:sp>
        <p:nvSpPr>
          <p:cNvPr id="3" name="">
            <a:extLst xmlns:a="http://schemas.openxmlformats.org/drawingml/2006/main">
              <a:ext uri="{FF2B5EF4-FFF2-40B4-BE49-F238E27FC236}">
                <a16:creationId xmlns:a16="http://schemas.microsoft.com/office/drawing/2014/main" id="{6F1A9A37-79A9-4F0E-B925-4FA0B43852CB}"/>
              </a:ext>
            </a:extLst>
          </p:cNvPr>
          <p:cNvSpPr>
            <a:spLocks xmlns:a="http://schemas.openxmlformats.org/drawingml/2006/main" noGrp="1"/>
          </p:cNvSpPr>
          <p:nvPr/>
        </p:nvSpPr>
        <p:spPr>
          <a:xfrm xmlns:a="http://schemas.openxmlformats.org/drawingml/2006/main">
            <a:off x="609600" y="14763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847"/>
                </a:solidFill>
                <a:latin typeface="Bitstream Charter"/>
                <a:ea typeface="Bitstream Charter"/>
                <a:cs typeface="Bitstream Charter"/>
              </a:defRPr>
            </a:pPr>
            <a:r>
              <a:rPr sz="1800" b="0">
                <a:solidFill>
                  <a:srgbClr val="233847"/>
                </a:solidFill>
                <a:latin typeface="Bitstream Charter"/>
                <a:ea typeface="Bitstream Charter"/>
                <a:cs typeface="Bitstream Charter"/>
              </a:rPr>
              <a:t>Gartner. (2025, March 25). Gartner says CFOs should reset expectations about AI’s impact on workforce productivity and headcount.</a:t>
            </a:r>
          </a:p>
        </p:txBody>
      </p:sp>
      <p:sp>
        <p:nvSpPr>
          <p:cNvPr id="4" name="">
            <a:extLst xmlns:a="http://schemas.openxmlformats.org/drawingml/2006/main">
              <a:ext uri="{FF2B5EF4-FFF2-40B4-BE49-F238E27FC236}">
                <a16:creationId xmlns:a16="http://schemas.microsoft.com/office/drawing/2014/main" id="{1B1EE7CD-0973-4EDA-84B5-B4D9EBC3869C}"/>
              </a:ext>
            </a:extLst>
          </p:cNvPr>
          <p:cNvSpPr>
            <a:spLocks xmlns:a="http://schemas.openxmlformats.org/drawingml/2006/main" noGrp="1"/>
          </p:cNvSpPr>
          <p:nvPr/>
        </p:nvSpPr>
        <p:spPr>
          <a:xfrm xmlns:a="http://schemas.openxmlformats.org/drawingml/2006/main">
            <a:off x="609600" y="22860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87F82"/>
                </a:solidFill>
                <a:latin typeface="Bitstream Charter"/>
                <a:ea typeface="Bitstream Charter"/>
                <a:cs typeface="Bitstream Charter"/>
              </a:defRPr>
            </a:pPr>
            <a:r>
              <a:rPr sz="1275" b="0">
                <a:solidFill>
                  <a:srgbClr val="087F82"/>
                </a:solidFill>
                <a:latin typeface="Bitstream Charter"/>
                <a:ea typeface="Bitstream Charter"/>
                <a:cs typeface="Bitstream Charter"/>
              </a:rPr>
              <a:t>https://www.gartner.com/en/newsroom/press-releases/2025-03-25-gartner-says-cfos-should-reset-expectations-about-ais-impact-on-workforce-productivity-and-headcount</a:t>
            </a:r>
          </a:p>
        </p:txBody>
      </p:sp>
      <p:sp>
        <p:nvSpPr>
          <p:cNvPr id="5" name="">
            <a:extLst xmlns:a="http://schemas.openxmlformats.org/drawingml/2006/main">
              <a:ext uri="{FF2B5EF4-FFF2-40B4-BE49-F238E27FC236}">
                <a16:creationId xmlns:a16="http://schemas.microsoft.com/office/drawing/2014/main" id="{E79C1F18-826D-4E59-A488-F4C2E5D17A69}"/>
              </a:ext>
            </a:extLst>
          </p:cNvPr>
          <p:cNvSpPr>
            <a:spLocks xmlns:a="http://schemas.openxmlformats.org/drawingml/2006/main" noGrp="1"/>
          </p:cNvSpPr>
          <p:nvPr/>
        </p:nvSpPr>
        <p:spPr>
          <a:xfrm xmlns:a="http://schemas.openxmlformats.org/drawingml/2006/main">
            <a:off x="609600" y="29813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847"/>
                </a:solidFill>
                <a:latin typeface="Bitstream Charter"/>
                <a:ea typeface="Bitstream Charter"/>
                <a:cs typeface="Bitstream Charter"/>
              </a:defRPr>
            </a:pPr>
            <a:r>
              <a:rPr sz="1800" b="0">
                <a:solidFill>
                  <a:srgbClr val="233847"/>
                </a:solidFill>
                <a:latin typeface="Bitstream Charter"/>
                <a:ea typeface="Bitstream Charter"/>
                <a:cs typeface="Bitstream Charter"/>
              </a:rPr>
              <a:t>Mollick, E. (2023, September 16). Centaurs and cyborgs on the jagged frontier. One Useful Thing.</a:t>
            </a:r>
          </a:p>
        </p:txBody>
      </p:sp>
      <p:sp>
        <p:nvSpPr>
          <p:cNvPr id="6" name="">
            <a:extLst xmlns:a="http://schemas.openxmlformats.org/drawingml/2006/main">
              <a:ext uri="{FF2B5EF4-FFF2-40B4-BE49-F238E27FC236}">
                <a16:creationId xmlns:a16="http://schemas.microsoft.com/office/drawing/2014/main" id="{14336BE0-4645-4D62-B735-0BE6ADEBF309}"/>
              </a:ext>
            </a:extLst>
          </p:cNvPr>
          <p:cNvSpPr>
            <a:spLocks xmlns:a="http://schemas.openxmlformats.org/drawingml/2006/main" noGrp="1"/>
          </p:cNvSpPr>
          <p:nvPr/>
        </p:nvSpPr>
        <p:spPr>
          <a:xfrm xmlns:a="http://schemas.openxmlformats.org/drawingml/2006/main">
            <a:off x="609600" y="379095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87F82"/>
                </a:solidFill>
                <a:latin typeface="Bitstream Charter"/>
                <a:ea typeface="Bitstream Charter"/>
                <a:cs typeface="Bitstream Charter"/>
              </a:defRPr>
            </a:pPr>
            <a:r>
              <a:rPr sz="1275" b="0">
                <a:solidFill>
                  <a:srgbClr val="087F82"/>
                </a:solidFill>
                <a:latin typeface="Bitstream Charter"/>
                <a:ea typeface="Bitstream Charter"/>
                <a:cs typeface="Bitstream Charter"/>
              </a:rPr>
              <a:t>https://www.oneusefulthing.org/p/centaurs-and-cyborgs-on-the-jagged</a:t>
            </a:r>
          </a:p>
        </p:txBody>
      </p:sp>
      <p:sp>
        <p:nvSpPr>
          <p:cNvPr id="7" name="">
            <a:extLst xmlns:a="http://schemas.openxmlformats.org/drawingml/2006/main">
              <a:ext uri="{FF2B5EF4-FFF2-40B4-BE49-F238E27FC236}">
                <a16:creationId xmlns:a16="http://schemas.microsoft.com/office/drawing/2014/main" id="{4504A9B1-ECD2-4563-A8DC-F8E0EAF44B76}"/>
              </a:ext>
            </a:extLst>
          </p:cNvPr>
          <p:cNvSpPr>
            <a:spLocks xmlns:a="http://schemas.openxmlformats.org/drawingml/2006/main" noGrp="1"/>
          </p:cNvSpPr>
          <p:nvPr/>
        </p:nvSpPr>
        <p:spPr>
          <a:xfrm xmlns:a="http://schemas.openxmlformats.org/drawingml/2006/main">
            <a:off x="609600" y="448627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33847"/>
                </a:solidFill>
                <a:latin typeface="Bitstream Charter"/>
                <a:ea typeface="Bitstream Charter"/>
                <a:cs typeface="Bitstream Charter"/>
              </a:defRPr>
            </a:pPr>
            <a:r>
              <a:rPr sz="1800" b="0">
                <a:solidFill>
                  <a:srgbClr val="233847"/>
                </a:solidFill>
                <a:latin typeface="Bitstream Charter"/>
                <a:ea typeface="Bitstream Charter"/>
                <a:cs typeface="Bitstream Charter"/>
              </a:rPr>
              <a:t>United States Conference of Catholic Bishops. (n.d.). The dignity of work and the rights of workers.</a:t>
            </a:r>
          </a:p>
        </p:txBody>
      </p:sp>
      <p:sp>
        <p:nvSpPr>
          <p:cNvPr id="8" name="">
            <a:extLst xmlns:a="http://schemas.openxmlformats.org/drawingml/2006/main">
              <a:ext uri="{FF2B5EF4-FFF2-40B4-BE49-F238E27FC236}">
                <a16:creationId xmlns:a16="http://schemas.microsoft.com/office/drawing/2014/main" id="{BBFA4DD2-E9D4-4222-B6F1-66DCB863E661}"/>
              </a:ext>
            </a:extLst>
          </p:cNvPr>
          <p:cNvSpPr>
            <a:spLocks xmlns:a="http://schemas.openxmlformats.org/drawingml/2006/main" noGrp="1"/>
          </p:cNvSpPr>
          <p:nvPr/>
        </p:nvSpPr>
        <p:spPr>
          <a:xfrm xmlns:a="http://schemas.openxmlformats.org/drawingml/2006/main">
            <a:off x="609600" y="5295900"/>
            <a:ext cx="1081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087F82"/>
                </a:solidFill>
                <a:latin typeface="Bitstream Charter"/>
                <a:ea typeface="Bitstream Charter"/>
                <a:cs typeface="Bitstream Charter"/>
              </a:defRPr>
            </a:pPr>
            <a:r>
              <a:rPr sz="1275" b="0">
                <a:solidFill>
                  <a:srgbClr val="087F82"/>
                </a:solidFill>
                <a:latin typeface="Bitstream Charter"/>
                <a:ea typeface="Bitstream Charter"/>
                <a:cs typeface="Bitstream Charter"/>
              </a:rPr>
              <a:t>https://www.usccb.org/beliefs-and-teachings/what-we-believe/catholic-social-teaching/the-dignity-of-work-and-the-rights-of-workers</a:t>
            </a:r>
          </a:p>
        </p:txBody>
      </p:sp>
    </p:spTree>
    <p:extLst>
      <p:ext uri="{BB962C8B-B14F-4D97-AF65-F5344CB8AC3E}">
        <p14:creationId xmlns:p14="http://schemas.microsoft.com/office/powerpoint/2010/main" val="10939465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2026-10-07T03:50:12.4660000Z</dcterms:created>
  <dcterms:modified xsi:type="dcterms:W3CDTF">2026-10-07T03:50:12.4660000Z</dcterms:modified>
</coreProperties>
</file>