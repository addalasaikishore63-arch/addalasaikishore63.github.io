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ce71e69d1142b6" /><Relationship Type="http://schemas.openxmlformats.org/officeDocument/2006/relationships/extended-properties" Target="/docProps/app.xml" Id="R97b99e5c225748d8" /><Relationship Type="http://schemas.openxmlformats.org/officeDocument/2006/relationships/officeDocument" Target="/ppt/presentation.xml" Id="R2e011753c509488e" /></Relationships>
</file>

<file path=ppt/presentation.xml><?xml version="1.0" encoding="utf-8"?>
<p:presentation xmlns:p="http://schemas.openxmlformats.org/presentationml/2006/main">
  <p:sldMasterIdLst>
    <p:sldMasterId xmlns:r="http://schemas.openxmlformats.org/officeDocument/2006/relationships" id="2147483648" r:id="R9c599f5b16b7408c"/>
  </p:sldMasterIdLst>
  <p:notesMasterIdLst>
    <p:notesMasterId xmlns:r="http://schemas.openxmlformats.org/officeDocument/2006/relationships" r:id="Rc4843960506944fa"/>
  </p:notesMasterIdLst>
  <p:sldIdLst>
    <p:sldId xmlns:r="http://schemas.openxmlformats.org/officeDocument/2006/relationships" id="256" r:id="Rf2101db9c28d4ffc"/>
    <p:sldId xmlns:r="http://schemas.openxmlformats.org/officeDocument/2006/relationships" id="257" r:id="R956eb5a8464448ce"/>
    <p:sldId xmlns:r="http://schemas.openxmlformats.org/officeDocument/2006/relationships" id="258" r:id="R896663ebf4504a48"/>
    <p:sldId xmlns:r="http://schemas.openxmlformats.org/officeDocument/2006/relationships" id="259" r:id="R270dd8cbbb804728"/>
    <p:sldId xmlns:r="http://schemas.openxmlformats.org/officeDocument/2006/relationships" id="260" r:id="R6d68dce51210401f"/>
    <p:sldId xmlns:r="http://schemas.openxmlformats.org/officeDocument/2006/relationships" id="261" r:id="R0dd52a7d10f84e69"/>
    <p:sldId xmlns:r="http://schemas.openxmlformats.org/officeDocument/2006/relationships" id="262" r:id="Rf7399890934f48a5"/>
    <p:sldId xmlns:r="http://schemas.openxmlformats.org/officeDocument/2006/relationships" id="263" r:id="R305d46c103a14b19"/>
    <p:sldId xmlns:r="http://schemas.openxmlformats.org/officeDocument/2006/relationships" id="264" r:id="R7ec729951c694058"/>
    <p:sldId xmlns:r="http://schemas.openxmlformats.org/officeDocument/2006/relationships" id="265" r:id="R2eadc05590b744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de7d040dc14993" /><Relationship Type="http://schemas.openxmlformats.org/officeDocument/2006/relationships/slideMaster" Target="/ppt/slideMasters/slideMaster1.xml" Id="R9c599f5b16b7408c" /><Relationship Type="http://schemas.openxmlformats.org/officeDocument/2006/relationships/notesMaster" Target="/ppt/notesMasters/notesMaster1.xml" Id="Rc4843960506944fa" /><Relationship Type="http://schemas.openxmlformats.org/officeDocument/2006/relationships/presProps" Target="/ppt/presProps.xml" Id="R0ff9339a07294f1d" /><Relationship Type="http://schemas.openxmlformats.org/officeDocument/2006/relationships/tableStyles" Target="/ppt/tableStyles.xml" Id="Rd603c4a477a34727" /><Relationship Type="http://schemas.openxmlformats.org/officeDocument/2006/relationships/slide" Target="/ppt/slides/slide1.xml" Id="Rf2101db9c28d4ffc" /><Relationship Type="http://schemas.openxmlformats.org/officeDocument/2006/relationships/slide" Target="/ppt/slides/slide2.xml" Id="R956eb5a8464448ce" /><Relationship Type="http://schemas.openxmlformats.org/officeDocument/2006/relationships/slide" Target="/ppt/slides/slide3.xml" Id="R896663ebf4504a48" /><Relationship Type="http://schemas.openxmlformats.org/officeDocument/2006/relationships/slide" Target="/ppt/slides/slide4.xml" Id="R270dd8cbbb804728" /><Relationship Type="http://schemas.openxmlformats.org/officeDocument/2006/relationships/slide" Target="/ppt/slides/slide5.xml" Id="R6d68dce51210401f" /><Relationship Type="http://schemas.openxmlformats.org/officeDocument/2006/relationships/slide" Target="/ppt/slides/slide6.xml" Id="R0dd52a7d10f84e69" /><Relationship Type="http://schemas.openxmlformats.org/officeDocument/2006/relationships/slide" Target="/ppt/slides/slide7.xml" Id="Rf7399890934f48a5" /><Relationship Type="http://schemas.openxmlformats.org/officeDocument/2006/relationships/slide" Target="/ppt/slides/slide8.xml" Id="R305d46c103a14b19" /><Relationship Type="http://schemas.openxmlformats.org/officeDocument/2006/relationships/slide" Target="/ppt/slides/slide9.xml" Id="R7ec729951c694058" /><Relationship Type="http://schemas.openxmlformats.org/officeDocument/2006/relationships/slide" Target="/ppt/slides/slide10.xml" Id="R2eadc05590b744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f51c4081a842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ed53aab602482a" /><Relationship Type="http://schemas.openxmlformats.org/officeDocument/2006/relationships/notesMaster" Target="/ppt/notesMasters/notesMaster1.xml" Id="R23a1dda1f96044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a0b576069342b1" /><Relationship Type="http://schemas.openxmlformats.org/officeDocument/2006/relationships/notesMaster" Target="/ppt/notesMasters/notesMaster1.xml" Id="Rdd79a023a0df46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381d1d9cc649ea" /><Relationship Type="http://schemas.openxmlformats.org/officeDocument/2006/relationships/notesMaster" Target="/ppt/notesMasters/notesMaster1.xml" Id="R922ace7635754b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dfaf2e285a4ce3" /><Relationship Type="http://schemas.openxmlformats.org/officeDocument/2006/relationships/notesMaster" Target="/ppt/notesMasters/notesMaster1.xml" Id="R6dfe8ecbf1cd47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bcb62b49e14147" /><Relationship Type="http://schemas.openxmlformats.org/officeDocument/2006/relationships/notesMaster" Target="/ppt/notesMasters/notesMaster1.xml" Id="R85ea267b8e2444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483efa7df04933" /><Relationship Type="http://schemas.openxmlformats.org/officeDocument/2006/relationships/notesMaster" Target="/ppt/notesMasters/notesMaster1.xml" Id="R89ef00ea884f4e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0cd1320562422e" /><Relationship Type="http://schemas.openxmlformats.org/officeDocument/2006/relationships/notesMaster" Target="/ppt/notesMasters/notesMaster1.xml" Id="R5e569fe9287f4a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3a6d0e75584824" /><Relationship Type="http://schemas.openxmlformats.org/officeDocument/2006/relationships/notesMaster" Target="/ppt/notesMasters/notesMaster1.xml" Id="Rda3611d5c68c45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97cc14e80b49eb" /><Relationship Type="http://schemas.openxmlformats.org/officeDocument/2006/relationships/notesMaster" Target="/ppt/notesMasters/notesMaster1.xml" Id="Rc1fb1deb388546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d39ab370ff4a72" /><Relationship Type="http://schemas.openxmlformats.org/officeDocument/2006/relationships/notesMaster" Target="/ppt/notesMasters/notesMaster1.xml" Id="R51a3391cc18946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statistics are fictional assignment data, not independently verified clinical research. Facility and home counts are not a count of participants. The claimed attribution of emergency reductions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HarborTrust framework: fairness, transparency, privacy and security, reliability and safety, human oversight and accountability, and inclusion. Empowerment and authenticity extend that framework. Case risks also require attention to longer-term social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 et al. found potential improvements in engagement and loneliness in narrative evidence, but pooled results for agitation, anxiety and quality of life were not statistically significant. This does not establish Elara efficacy. https://doi.org/10.1093/geront/gny046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Sharkey and Sharkey identify reduced contact, loss of control, privacy and liberty risks, deception and infantilisation. New product-specific risks here are analytical applications, not measured Elara effects. https://doi.org/10.1007/s10676-010-9234-6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 et al. supports testing potential benefit with rigorous trials because existing findings were limited. Sharkey and Sharkey supports protecting contact, privacy and user control while weighing care benefits. These are proposed Elara controls. https://doi.org/10.1093/geront/gny046</a:t>
            </a:r>
          </a:p>
          <a:p xmlns:a="http://schemas.openxmlformats.org/drawingml/2006/main">
            <a:r>
              <a:t>https://doi.org/10.1007/s10676-010-9234-6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https://doi.org/10.1093/geront/gny046</a:t>
            </a:r>
          </a:p>
          <a:p xmlns:a="http://schemas.openxmlformats.org/drawingml/2006/main">
            <a:r>
              <a:t>https://doi.org/10.1007/s10676-010-9234-6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 cost and clinical outcomes alongside social outcomes and uncertainty. Set acceptance thresholds before deployment. Avoid incentives based on maximizing interaction time, consistent with the Center for Humane Technology attention-economy discussion. Include users and caregivers in review. Emergency pathways need explicit responsibilities and availability. Course source: https://www.humanetech.com/youth/the-attention-economy; clinical design context: https://www.scu.edu/ethics-spotlight/generative-ai-ethics/the-ethics-of-ai-applications-for-mental-health-care/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peer-reviewed scholarly sources cited in the recommendation and justification slides. Pu et al. issue year 2019, early online publication 2018. Sharkey and Sharkey issue year 2012, early online publication 2010.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AI-drafted reflection for the student to review, personalize and approve. It does not establish the student’s actual experiences. Assignment instructions require the student’s own difficulties or questions. Replace this draft with words that accurately reflect the student’s views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7320cac56e44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4a77d403904d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9f3a3ab29d4d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d73518d34547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e0426c53734b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c1b701c95b42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1554C97-FE9C-4B30-A731-EF904AD527A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8A50F68-C477-4C8F-9DD9-6ABC891A4E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2F62523-D8A6-42B9-A655-5003AD5DF3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4A67E4CD-9579-4A55-AD16-330CF3F11F5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D75CF7F-07A0-455F-9CF1-57071710D1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EDCAC10-3AE3-4455-AC01-F8A7BFE28B3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BB4D4F8-EE64-4F3C-B90A-9987F0EE2C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1F3443A-E27F-44A3-9B56-DE357EC5D3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99A1C07-8D7D-4FE8-AC98-4E9B645EDB6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40EA0C8-327D-4CD7-A04F-613F5A5490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6F831A9-F30D-4332-869E-EA73B1C75E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8E90987-80B0-4DD2-9745-5C76F5B90F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25CBF5A-8044-4B72-9BF9-36547A8077A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2BB6A6C-E3CC-41BB-89BE-CEBCE8EC9D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17E6A5B-65F9-46AC-9CAC-7B17B5DD3F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423ac492614bf2" /><Relationship Type="http://schemas.openxmlformats.org/officeDocument/2006/relationships/slideLayout" Target="/ppt/slideLayouts/slideLayout1.xml" Id="R47025b2590694b64" /><Relationship Type="http://schemas.openxmlformats.org/officeDocument/2006/relationships/slideLayout" Target="/ppt/slideLayouts/slideLayout2.xml" Id="R576a3007bd8f42d8" /><Relationship Type="http://schemas.openxmlformats.org/officeDocument/2006/relationships/slideLayout" Target="/ppt/slideLayouts/slideLayout3.xml" Id="Rfc8ac4b082fd4485" /><Relationship Type="http://schemas.openxmlformats.org/officeDocument/2006/relationships/slideLayout" Target="/ppt/slideLayouts/slideLayout4.xml" Id="R093d0dd446bf4c78" /><Relationship Type="http://schemas.openxmlformats.org/officeDocument/2006/relationships/slideLayout" Target="/ppt/slideLayouts/slideLayout5.xml" Id="R9f6eb2f28db6405f" /><Relationship Type="http://schemas.openxmlformats.org/officeDocument/2006/relationships/slideLayout" Target="/ppt/slideLayouts/slideLayout6.xml" Id="Rc696d9e5500c48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025b2590694b64"/>
    <p:sldLayoutId xmlns:r="http://schemas.openxmlformats.org/officeDocument/2006/relationships" id="2147483650" r:id="R576a3007bd8f42d8"/>
    <p:sldLayoutId xmlns:r="http://schemas.openxmlformats.org/officeDocument/2006/relationships" id="2147483651" r:id="Rfc8ac4b082fd4485"/>
    <p:sldLayoutId xmlns:r="http://schemas.openxmlformats.org/officeDocument/2006/relationships" id="2147483652" r:id="R093d0dd446bf4c78"/>
    <p:sldLayoutId xmlns:r="http://schemas.openxmlformats.org/officeDocument/2006/relationships" id="2147483653" r:id="R9f6eb2f28db6405f"/>
    <p:sldLayoutId xmlns:r="http://schemas.openxmlformats.org/officeDocument/2006/relationships" id="2147483654" r:id="Rc696d9e5500c48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776ab824814fd5" /><Relationship Type="http://schemas.openxmlformats.org/officeDocument/2006/relationships/notesSlide" Target="/ppt/notesSlides/notesSlide1.xml" Id="Rfa6f8f41ce854c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5f935a0a7c405c" /><Relationship Type="http://schemas.openxmlformats.org/officeDocument/2006/relationships/notesSlide" Target="/ppt/notesSlides/notesSlide2.xml" Id="R1e28bca8c9cb47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44ec4be51e4ae2" /><Relationship Type="http://schemas.openxmlformats.org/officeDocument/2006/relationships/notesSlide" Target="/ppt/notesSlides/notesSlide3.xml" Id="R6a975e73ef3540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62a497f33b4a9e" /><Relationship Type="http://schemas.openxmlformats.org/officeDocument/2006/relationships/notesSlide" Target="/ppt/notesSlides/notesSlide4.xml" Id="R4a80d102f86848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c4646ec967403e" /><Relationship Type="http://schemas.openxmlformats.org/officeDocument/2006/relationships/notesSlide" Target="/ppt/notesSlides/notesSlide5.xml" Id="R731a1b301b5c4b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61be87cbf849ab" /><Relationship Type="http://schemas.openxmlformats.org/officeDocument/2006/relationships/notesSlide" Target="/ppt/notesSlides/notesSlide6.xml" Id="Rb811a6c3072749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0aebbed52c4714" /><Relationship Type="http://schemas.openxmlformats.org/officeDocument/2006/relationships/notesSlide" Target="/ppt/notesSlides/notesSlide7.xml" Id="R5377433c3aa54e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ef1d95c8f84842" /><Relationship Type="http://schemas.openxmlformats.org/officeDocument/2006/relationships/notesSlide" Target="/ppt/notesSlides/notesSlide8.xml" Id="Rea7a85accc904f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888d9c90504fab" /><Relationship Type="http://schemas.openxmlformats.org/officeDocument/2006/relationships/notesSlide" Target="/ppt/notesSlides/notesSlide9.xml" Id="R8b0daf9ebda247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86142c949e8428b" /><Relationship Type="http://schemas.openxmlformats.org/officeDocument/2006/relationships/notesSlide" Target="/ppt/notesSlides/notesSlide10.xml" Id="R84b57bca2fce41c8"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8BA613-1E4F-4B6B-944A-1FC268BAF070}"/>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Responsible AI and Elara</a:t>
            </a:r>
          </a:p>
        </p:txBody>
      </p:sp>
      <p:sp>
        <p:nvSpPr>
          <p:cNvPr id="2" name="">
            <a:extLst xmlns:a="http://schemas.openxmlformats.org/drawingml/2006/main">
              <a:ext uri="{FF2B5EF4-FFF2-40B4-BE49-F238E27FC236}">
                <a16:creationId xmlns:a16="http://schemas.microsoft.com/office/drawing/2014/main" id="{F67C2BBC-D1CB-4CD1-9B1F-CA10E483F43B}"/>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01</a:t>
            </a:r>
          </a:p>
        </p:txBody>
      </p:sp>
      <p:sp>
        <p:nvSpPr>
          <p:cNvPr id="3" name="">
            <a:extLst xmlns:a="http://schemas.openxmlformats.org/drawingml/2006/main">
              <a:ext uri="{FF2B5EF4-FFF2-40B4-BE49-F238E27FC236}">
                <a16:creationId xmlns:a16="http://schemas.microsoft.com/office/drawing/2014/main" id="{6FB2C00E-1C99-461F-90A8-C460483C2639}"/>
              </a:ext>
            </a:extLst>
          </p:cNvPr>
          <p:cNvSpPr>
            <a:spLocks xmlns:a="http://schemas.openxmlformats.org/drawingml/2006/main" noGrp="1"/>
          </p:cNvSpPr>
          <p:nvPr/>
        </p:nvSpPr>
        <p:spPr>
          <a:xfrm xmlns:a="http://schemas.openxmlformats.org/drawingml/2006/main">
            <a:off x="609600" y="2047875"/>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43A46"/>
                </a:solidFill>
                <a:latin typeface="Bitstream Charter"/>
                <a:ea typeface="Bitstream Charter"/>
                <a:cs typeface="Bitstream Charter"/>
              </a:defRPr>
            </a:pPr>
            <a:r>
              <a:rPr sz="4050" b="1">
                <a:solidFill>
                  <a:srgbClr val="143A46"/>
                </a:solidFill>
                <a:latin typeface="Bitstream Charter"/>
                <a:ea typeface="Bitstream Charter"/>
                <a:cs typeface="Bitstream Charter"/>
              </a:rPr>
              <a:t>AI companionship</a:t>
            </a:r>
          </a:p>
          <a:p xmlns:a="http://schemas.openxmlformats.org/drawingml/2006/main">
            <a:pPr>
              <a:defRPr sz="4050" b="1">
                <a:solidFill>
                  <a:srgbClr val="143A46"/>
                </a:solidFill>
                <a:latin typeface="Bitstream Charter"/>
                <a:ea typeface="Bitstream Charter"/>
                <a:cs typeface="Bitstream Charter"/>
              </a:defRPr>
            </a:pPr>
            <a:r>
              <a:rPr sz="4050" b="1">
                <a:solidFill>
                  <a:srgbClr val="143A46"/>
                </a:solidFill>
                <a:latin typeface="Bitstream Charter"/>
                <a:ea typeface="Bitstream Charter"/>
                <a:cs typeface="Bitstream Charter"/>
              </a:rPr>
              <a:t>and long-term social well-being</a:t>
            </a:r>
          </a:p>
        </p:txBody>
      </p:sp>
      <p:sp>
        <p:nvSpPr>
          <p:cNvPr id="4" name="">
            <a:extLst xmlns:a="http://schemas.openxmlformats.org/drawingml/2006/main">
              <a:ext uri="{FF2B5EF4-FFF2-40B4-BE49-F238E27FC236}">
                <a16:creationId xmlns:a16="http://schemas.microsoft.com/office/drawing/2014/main" id="{9B9CD4AF-6486-403F-88D8-B423063423AC}"/>
              </a:ext>
            </a:extLst>
          </p:cNvPr>
          <p:cNvSpPr>
            <a:spLocks xmlns:a="http://schemas.openxmlformats.org/drawingml/2006/main" noGrp="1"/>
          </p:cNvSpPr>
          <p:nvPr/>
        </p:nvSpPr>
        <p:spPr>
          <a:xfrm xmlns:a="http://schemas.openxmlformats.org/drawingml/2006/main">
            <a:off x="609600" y="4048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87F82"/>
                </a:solidFill>
                <a:latin typeface="Bitstream Charter"/>
                <a:ea typeface="Bitstream Charter"/>
                <a:cs typeface="Bitstream Charter"/>
              </a:defRPr>
            </a:pPr>
            <a:r>
              <a:rPr sz="2400" b="0">
                <a:solidFill>
                  <a:srgbClr val="087F82"/>
                </a:solidFill>
                <a:latin typeface="Bitstream Charter"/>
                <a:ea typeface="Bitstream Charter"/>
                <a:cs typeface="Bitstream Charter"/>
              </a:rPr>
              <a:t>Recommendation: a supervised pilot that protects human contact</a:t>
            </a:r>
          </a:p>
        </p:txBody>
      </p:sp>
      <p:sp>
        <p:nvSpPr>
          <p:cNvPr id="5" name="">
            <a:extLst xmlns:a="http://schemas.openxmlformats.org/drawingml/2006/main">
              <a:ext uri="{FF2B5EF4-FFF2-40B4-BE49-F238E27FC236}">
                <a16:creationId xmlns:a16="http://schemas.microsoft.com/office/drawing/2014/main" id="{664056A0-067C-4F78-9F67-886A33E80F46}"/>
              </a:ext>
            </a:extLst>
          </p:cNvPr>
          <p:cNvSpPr>
            <a:spLocks xmlns:a="http://schemas.openxmlformats.org/drawingml/2006/main" noGrp="1"/>
          </p:cNvSpPr>
          <p:nvPr/>
        </p:nvSpPr>
        <p:spPr>
          <a:xfrm xmlns:a="http://schemas.openxmlformats.org/drawingml/2006/main">
            <a:off x="609600" y="5286375"/>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847"/>
                </a:solidFill>
                <a:latin typeface="Bitstream Charter"/>
                <a:ea typeface="Bitstream Charter"/>
                <a:cs typeface="Bitstream Charter"/>
              </a:defRPr>
            </a:pPr>
            <a:r>
              <a:rPr sz="1950" b="0">
                <a:solidFill>
                  <a:srgbClr val="233847"/>
                </a:solidFill>
                <a:latin typeface="Bitstream Charter"/>
                <a:ea typeface="Bitstream Charter"/>
                <a:cs typeface="Bitstream Charter"/>
              </a:rPr>
              <a:t>Sai Kishore Addala</a:t>
            </a:r>
          </a:p>
          <a:p xmlns:a="http://schemas.openxmlformats.org/drawingml/2006/main">
            <a:pPr>
              <a:defRPr sz="1950" b="0">
                <a:solidFill>
                  <a:srgbClr val="233847"/>
                </a:solidFill>
                <a:latin typeface="Bitstream Charter"/>
                <a:ea typeface="Bitstream Charter"/>
                <a:cs typeface="Bitstream Charter"/>
              </a:defRPr>
            </a:pPr>
            <a:r>
              <a:rPr sz="1950" b="0">
                <a:solidFill>
                  <a:srgbClr val="233847"/>
                </a:solidFill>
                <a:latin typeface="Bitstream Charter"/>
                <a:ea typeface="Bitstream Charter"/>
                <a:cs typeface="Bitstream Charter"/>
              </a:rPr>
              <a:t>AIML 510  Indiana Wesleyan University</a:t>
            </a:r>
          </a:p>
        </p:txBody>
      </p:sp>
    </p:spTree>
    <p:extLst>
      <p:ext uri="{BB962C8B-B14F-4D97-AF65-F5344CB8AC3E}">
        <p14:creationId xmlns:p14="http://schemas.microsoft.com/office/powerpoint/2010/main" val="1389765021"/>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B2F526-A48A-4981-AD88-D17A8C211E32}"/>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Elara pilot and evidence limits</a:t>
            </a:r>
          </a:p>
        </p:txBody>
      </p:sp>
      <p:sp>
        <p:nvSpPr>
          <p:cNvPr id="2" name="">
            <a:extLst xmlns:a="http://schemas.openxmlformats.org/drawingml/2006/main">
              <a:ext uri="{FF2B5EF4-FFF2-40B4-BE49-F238E27FC236}">
                <a16:creationId xmlns:a16="http://schemas.microsoft.com/office/drawing/2014/main" id="{0A36902C-8B7B-423D-9684-5F9B1EFEC701}"/>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DC571C1E-4AA4-4FD8-848F-611E44DB05D3}"/>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Deployment</a:t>
            </a:r>
          </a:p>
        </p:txBody>
      </p:sp>
      <p:sp>
        <p:nvSpPr>
          <p:cNvPr id="4" name="">
            <a:extLst xmlns:a="http://schemas.openxmlformats.org/drawingml/2006/main">
              <a:ext uri="{FF2B5EF4-FFF2-40B4-BE49-F238E27FC236}">
                <a16:creationId xmlns:a16="http://schemas.microsoft.com/office/drawing/2014/main" id="{CA9565FF-062B-4201-9154-4EA1B07AB54C}"/>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CompanionAI pilots Elara in 50 assisted living facilities and 200 homes. Participant count is unspecified.</a:t>
            </a:r>
          </a:p>
        </p:txBody>
      </p:sp>
      <p:sp>
        <p:nvSpPr>
          <p:cNvPr id="5" name="">
            <a:extLst xmlns:a="http://schemas.openxmlformats.org/drawingml/2006/main">
              <a:ext uri="{FF2B5EF4-FFF2-40B4-BE49-F238E27FC236}">
                <a16:creationId xmlns:a16="http://schemas.microsoft.com/office/drawing/2014/main" id="{3A2871BE-1DF8-46B4-B6AE-7DBF098ABD25}"/>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Reported mood</a:t>
            </a:r>
          </a:p>
        </p:txBody>
      </p:sp>
      <p:sp>
        <p:nvSpPr>
          <p:cNvPr id="6" name="">
            <a:extLst xmlns:a="http://schemas.openxmlformats.org/drawingml/2006/main">
              <a:ext uri="{FF2B5EF4-FFF2-40B4-BE49-F238E27FC236}">
                <a16:creationId xmlns:a16="http://schemas.microsoft.com/office/drawing/2014/main" id="{44B48235-EF45-41A3-9382-26D55606BC65}"/>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70% of participants showed improved mood after three months, according to the case study.</a:t>
            </a:r>
          </a:p>
        </p:txBody>
      </p:sp>
      <p:sp>
        <p:nvSpPr>
          <p:cNvPr id="7" name="">
            <a:extLst xmlns:a="http://schemas.openxmlformats.org/drawingml/2006/main">
              <a:ext uri="{FF2B5EF4-FFF2-40B4-BE49-F238E27FC236}">
                <a16:creationId xmlns:a16="http://schemas.microsoft.com/office/drawing/2014/main" id="{C9BC19E5-4D7E-4681-91CF-F69A8768B5F1}"/>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Medical outcomes</a:t>
            </a:r>
          </a:p>
        </p:txBody>
      </p:sp>
      <p:sp>
        <p:nvSpPr>
          <p:cNvPr id="8" name="">
            <a:extLst xmlns:a="http://schemas.openxmlformats.org/drawingml/2006/main">
              <a:ext uri="{FF2B5EF4-FFF2-40B4-BE49-F238E27FC236}">
                <a16:creationId xmlns:a16="http://schemas.microsoft.com/office/drawing/2014/main" id="{5C75B958-5471-42EC-9B5A-97E983FA1C4A}"/>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The case reports 20% fewer emergency medical interventions, attributed to proactive monitoring.</a:t>
            </a:r>
          </a:p>
        </p:txBody>
      </p:sp>
      <p:sp>
        <p:nvSpPr>
          <p:cNvPr id="9" name="">
            <a:extLst xmlns:a="http://schemas.openxmlformats.org/drawingml/2006/main">
              <a:ext uri="{FF2B5EF4-FFF2-40B4-BE49-F238E27FC236}">
                <a16:creationId xmlns:a16="http://schemas.microsoft.com/office/drawing/2014/main" id="{D88976CC-5E0F-4DAE-B3CF-DC417D41F9EF}"/>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Limits</a:t>
            </a:r>
          </a:p>
        </p:txBody>
      </p:sp>
      <p:sp>
        <p:nvSpPr>
          <p:cNvPr id="10" name="">
            <a:extLst xmlns:a="http://schemas.openxmlformats.org/drawingml/2006/main">
              <a:ext uri="{FF2B5EF4-FFF2-40B4-BE49-F238E27FC236}">
                <a16:creationId xmlns:a16="http://schemas.microsoft.com/office/drawing/2014/main" id="{9D924693-8E74-42A3-B5F0-BE7A97C65B72}"/>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No comparator, measurement method or uncertainty is given. These reports cannot establish causation or lasting benefit.</a:t>
            </a:r>
          </a:p>
        </p:txBody>
      </p:sp>
      <p:sp>
        <p:nvSpPr>
          <p:cNvPr id="11" name="">
            <a:extLst xmlns:a="http://schemas.openxmlformats.org/drawingml/2006/main">
              <a:ext uri="{FF2B5EF4-FFF2-40B4-BE49-F238E27FC236}">
                <a16:creationId xmlns:a16="http://schemas.microsoft.com/office/drawing/2014/main" id="{571D1FE4-ACC6-4D06-9811-54E1E28A63D0}"/>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Source: supplied CompanionAI case study</a:t>
            </a:r>
          </a:p>
        </p:txBody>
      </p:sp>
    </p:spTree>
    <p:extLst>
      <p:ext uri="{BB962C8B-B14F-4D97-AF65-F5344CB8AC3E}">
        <p14:creationId xmlns:p14="http://schemas.microsoft.com/office/powerpoint/2010/main" val="485148512"/>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6B6295-62E8-42F7-AC72-174DE9ED9B5D}"/>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Key RAI considerations</a:t>
            </a:r>
          </a:p>
        </p:txBody>
      </p:sp>
      <p:sp>
        <p:nvSpPr>
          <p:cNvPr id="2" name="">
            <a:extLst xmlns:a="http://schemas.openxmlformats.org/drawingml/2006/main">
              <a:ext uri="{FF2B5EF4-FFF2-40B4-BE49-F238E27FC236}">
                <a16:creationId xmlns:a16="http://schemas.microsoft.com/office/drawing/2014/main" id="{5B0944A1-33E0-4552-A304-0C78EB9E73B0}"/>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7299B54F-CCE7-45CE-ACA0-B6DF31C2A0CF}"/>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Agency and truth</a:t>
            </a:r>
          </a:p>
        </p:txBody>
      </p:sp>
      <p:sp>
        <p:nvSpPr>
          <p:cNvPr id="4" name="">
            <a:extLst xmlns:a="http://schemas.openxmlformats.org/drawingml/2006/main">
              <a:ext uri="{FF2B5EF4-FFF2-40B4-BE49-F238E27FC236}">
                <a16:creationId xmlns:a16="http://schemas.microsoft.com/office/drawing/2014/main" id="{25AF3BF6-7F37-42F8-B829-EA1A68E09DD2}"/>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Add empowerment and authenticity to the original framework. Users choose monitoring and understand Elara is a machine.</a:t>
            </a:r>
          </a:p>
        </p:txBody>
      </p:sp>
      <p:sp>
        <p:nvSpPr>
          <p:cNvPr id="5" name="">
            <a:extLst xmlns:a="http://schemas.openxmlformats.org/drawingml/2006/main">
              <a:ext uri="{FF2B5EF4-FFF2-40B4-BE49-F238E27FC236}">
                <a16:creationId xmlns:a16="http://schemas.microsoft.com/office/drawing/2014/main" id="{DC310C14-6EE8-414C-A81F-169888671D83}"/>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Fairness and inclusion</a:t>
            </a:r>
          </a:p>
        </p:txBody>
      </p:sp>
      <p:sp>
        <p:nvSpPr>
          <p:cNvPr id="6" name="">
            <a:extLst xmlns:a="http://schemas.openxmlformats.org/drawingml/2006/main">
              <a:ext uri="{FF2B5EF4-FFF2-40B4-BE49-F238E27FC236}">
                <a16:creationId xmlns:a16="http://schemas.microsoft.com/office/drawing/2014/main" id="{3019578D-D2A8-45AF-B3B9-A23DBF3056CE}"/>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Test across languages, disabilities and cognitive abilities. Preserve equivalent access to human care.</a:t>
            </a:r>
          </a:p>
        </p:txBody>
      </p:sp>
      <p:sp>
        <p:nvSpPr>
          <p:cNvPr id="7" name="">
            <a:extLst xmlns:a="http://schemas.openxmlformats.org/drawingml/2006/main">
              <a:ext uri="{FF2B5EF4-FFF2-40B4-BE49-F238E27FC236}">
                <a16:creationId xmlns:a16="http://schemas.microsoft.com/office/drawing/2014/main" id="{A954C9DD-CD2A-448E-B424-9363B3934F88}"/>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Privacy and safety</a:t>
            </a:r>
          </a:p>
        </p:txBody>
      </p:sp>
      <p:sp>
        <p:nvSpPr>
          <p:cNvPr id="8" name="">
            <a:extLst xmlns:a="http://schemas.openxmlformats.org/drawingml/2006/main">
              <a:ext uri="{FF2B5EF4-FFF2-40B4-BE49-F238E27FC236}">
                <a16:creationId xmlns:a16="http://schemas.microsoft.com/office/drawing/2014/main" id="{152D4358-95ED-4502-B9AE-5BB7176BC413}"/>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Minimize emotional data, limit access, validate reminders and treat emotion estimates as uncertain.</a:t>
            </a:r>
          </a:p>
        </p:txBody>
      </p:sp>
      <p:sp>
        <p:nvSpPr>
          <p:cNvPr id="9" name="">
            <a:extLst xmlns:a="http://schemas.openxmlformats.org/drawingml/2006/main">
              <a:ext uri="{FF2B5EF4-FFF2-40B4-BE49-F238E27FC236}">
                <a16:creationId xmlns:a16="http://schemas.microsoft.com/office/drawing/2014/main" id="{D76EF10A-3E28-448B-8F2C-116EF8779980}"/>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Accountability</a:t>
            </a:r>
          </a:p>
        </p:txBody>
      </p:sp>
      <p:sp>
        <p:nvSpPr>
          <p:cNvPr id="10" name="">
            <a:extLst xmlns:a="http://schemas.openxmlformats.org/drawingml/2006/main">
              <a:ext uri="{FF2B5EF4-FFF2-40B4-BE49-F238E27FC236}">
                <a16:creationId xmlns:a16="http://schemas.microsoft.com/office/drawing/2014/main" id="{B909BC5A-AF00-4D17-831C-E891C4D430EC}"/>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Keep named clinical and service owners. Review consent, complaints and social effects throughout deployment.</a:t>
            </a:r>
          </a:p>
        </p:txBody>
      </p:sp>
      <p:sp>
        <p:nvSpPr>
          <p:cNvPr id="11" name="">
            <a:extLst xmlns:a="http://schemas.openxmlformats.org/drawingml/2006/main">
              <a:ext uri="{FF2B5EF4-FFF2-40B4-BE49-F238E27FC236}">
                <a16:creationId xmlns:a16="http://schemas.microsoft.com/office/drawing/2014/main" id="{F972E4D5-C80B-42D2-962A-9FEC134085A2}"/>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Framework: Assignment 1.3, extended for the customer perspective</a:t>
            </a:r>
          </a:p>
        </p:txBody>
      </p:sp>
    </p:spTree>
    <p:extLst>
      <p:ext uri="{BB962C8B-B14F-4D97-AF65-F5344CB8AC3E}">
        <p14:creationId xmlns:p14="http://schemas.microsoft.com/office/powerpoint/2010/main" val="2048152679"/>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368A7D-07A1-45E0-9E8B-5B96B4ABC97C}"/>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Specific benefits</a:t>
            </a:r>
          </a:p>
        </p:txBody>
      </p:sp>
      <p:sp>
        <p:nvSpPr>
          <p:cNvPr id="2" name="">
            <a:extLst xmlns:a="http://schemas.openxmlformats.org/drawingml/2006/main">
              <a:ext uri="{FF2B5EF4-FFF2-40B4-BE49-F238E27FC236}">
                <a16:creationId xmlns:a16="http://schemas.microsoft.com/office/drawing/2014/main" id="{DB0E601C-9634-4653-932C-E61E4CC5A858}"/>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04</a:t>
            </a:r>
          </a:p>
        </p:txBody>
      </p:sp>
      <p:sp>
        <p:nvSpPr>
          <p:cNvPr id="3" name="">
            <a:extLst xmlns:a="http://schemas.openxmlformats.org/drawingml/2006/main">
              <a:ext uri="{FF2B5EF4-FFF2-40B4-BE49-F238E27FC236}">
                <a16:creationId xmlns:a16="http://schemas.microsoft.com/office/drawing/2014/main" id="{A1E6E142-2511-4AD8-9EA7-7D518E80E908}"/>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Emotional support</a:t>
            </a:r>
          </a:p>
        </p:txBody>
      </p:sp>
      <p:sp>
        <p:nvSpPr>
          <p:cNvPr id="4" name="">
            <a:extLst xmlns:a="http://schemas.openxmlformats.org/drawingml/2006/main">
              <a:ext uri="{FF2B5EF4-FFF2-40B4-BE49-F238E27FC236}">
                <a16:creationId xmlns:a16="http://schemas.microsoft.com/office/drawing/2014/main" id="{CCDBE54B-C87C-4746-8E24-B847B9058600}"/>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The case’s early mood reports suggest possible value for users who want conversation between human visits.</a:t>
            </a:r>
          </a:p>
        </p:txBody>
      </p:sp>
      <p:sp>
        <p:nvSpPr>
          <p:cNvPr id="5" name="">
            <a:extLst xmlns:a="http://schemas.openxmlformats.org/drawingml/2006/main">
              <a:ext uri="{FF2B5EF4-FFF2-40B4-BE49-F238E27FC236}">
                <a16:creationId xmlns:a16="http://schemas.microsoft.com/office/drawing/2014/main" id="{4EAD6613-31EE-4138-B9A0-EFB9991A9725}"/>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Daily independence</a:t>
            </a:r>
          </a:p>
        </p:txBody>
      </p:sp>
      <p:sp>
        <p:nvSpPr>
          <p:cNvPr id="6" name="">
            <a:extLst xmlns:a="http://schemas.openxmlformats.org/drawingml/2006/main">
              <a:ext uri="{FF2B5EF4-FFF2-40B4-BE49-F238E27FC236}">
                <a16:creationId xmlns:a16="http://schemas.microsoft.com/office/drawing/2014/main" id="{86926C05-4D2E-4D87-A5DC-BFABFB771EA2}"/>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Medication reminders and activity suggestions may help users maintain routines. Clinicians approve medication schedules.</a:t>
            </a:r>
          </a:p>
        </p:txBody>
      </p:sp>
      <p:sp>
        <p:nvSpPr>
          <p:cNvPr id="7" name="">
            <a:extLst xmlns:a="http://schemas.openxmlformats.org/drawingml/2006/main">
              <a:ext uri="{FF2B5EF4-FFF2-40B4-BE49-F238E27FC236}">
                <a16:creationId xmlns:a16="http://schemas.microsoft.com/office/drawing/2014/main" id="{D0428878-4C18-4B80-BEDC-E41314ECAC3B}"/>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Human connection</a:t>
            </a:r>
          </a:p>
        </p:txBody>
      </p:sp>
      <p:sp>
        <p:nvSpPr>
          <p:cNvPr id="8" name="">
            <a:extLst xmlns:a="http://schemas.openxmlformats.org/drawingml/2006/main">
              <a:ext uri="{FF2B5EF4-FFF2-40B4-BE49-F238E27FC236}">
                <a16:creationId xmlns:a16="http://schemas.microsoft.com/office/drawing/2014/main" id="{8476CA0C-0148-4032-A911-A3DD7580876F}"/>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Elara can help initiate family calls and encourage shared activities when users consent.</a:t>
            </a:r>
          </a:p>
        </p:txBody>
      </p:sp>
      <p:sp>
        <p:nvSpPr>
          <p:cNvPr id="9" name="">
            <a:extLst xmlns:a="http://schemas.openxmlformats.org/drawingml/2006/main">
              <a:ext uri="{FF2B5EF4-FFF2-40B4-BE49-F238E27FC236}">
                <a16:creationId xmlns:a16="http://schemas.microsoft.com/office/drawing/2014/main" id="{2B155B11-4536-4607-9648-5F2E641D601A}"/>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Clinical support</a:t>
            </a:r>
          </a:p>
        </p:txBody>
      </p:sp>
      <p:sp>
        <p:nvSpPr>
          <p:cNvPr id="10" name="">
            <a:extLst xmlns:a="http://schemas.openxmlformats.org/drawingml/2006/main">
              <a:ext uri="{FF2B5EF4-FFF2-40B4-BE49-F238E27FC236}">
                <a16:creationId xmlns:a16="http://schemas.microsoft.com/office/drawing/2014/main" id="{076E8735-CA68-4647-B9BB-4935AFD18498}"/>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Monitoring may help clinicians notice changes sooner. Alerts require verification and a staffed response pathway.</a:t>
            </a:r>
          </a:p>
        </p:txBody>
      </p:sp>
      <p:sp>
        <p:nvSpPr>
          <p:cNvPr id="11" name="">
            <a:extLst xmlns:a="http://schemas.openxmlformats.org/drawingml/2006/main">
              <a:ext uri="{FF2B5EF4-FFF2-40B4-BE49-F238E27FC236}">
                <a16:creationId xmlns:a16="http://schemas.microsoft.com/office/drawing/2014/main" id="{E713EC42-A0AC-4AC1-A357-D75424C69544}"/>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Case outcomes are preliminary. Pu et al. (2019) supports cautious evaluation.</a:t>
            </a:r>
          </a:p>
        </p:txBody>
      </p:sp>
    </p:spTree>
    <p:extLst>
      <p:ext uri="{BB962C8B-B14F-4D97-AF65-F5344CB8AC3E}">
        <p14:creationId xmlns:p14="http://schemas.microsoft.com/office/powerpoint/2010/main" val="1519780472"/>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1455F4-F10E-4192-83F4-8DD6F2DCE022}"/>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Specific risks and societal effects</a:t>
            </a:r>
          </a:p>
        </p:txBody>
      </p:sp>
      <p:sp>
        <p:nvSpPr>
          <p:cNvPr id="2" name="">
            <a:extLst xmlns:a="http://schemas.openxmlformats.org/drawingml/2006/main">
              <a:ext uri="{FF2B5EF4-FFF2-40B4-BE49-F238E27FC236}">
                <a16:creationId xmlns:a16="http://schemas.microsoft.com/office/drawing/2014/main" id="{CFA8ADEA-5BF7-4816-AE7F-3415DEF7259E}"/>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05</a:t>
            </a:r>
          </a:p>
        </p:txBody>
      </p:sp>
      <p:sp>
        <p:nvSpPr>
          <p:cNvPr id="3" name="">
            <a:extLst xmlns:a="http://schemas.openxmlformats.org/drawingml/2006/main">
              <a:ext uri="{FF2B5EF4-FFF2-40B4-BE49-F238E27FC236}">
                <a16:creationId xmlns:a16="http://schemas.microsoft.com/office/drawing/2014/main" id="{23E8520F-D1FF-4F17-A0E7-A1C9C5B1850C}"/>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Displaced care</a:t>
            </a:r>
          </a:p>
        </p:txBody>
      </p:sp>
      <p:sp>
        <p:nvSpPr>
          <p:cNvPr id="4" name="">
            <a:extLst xmlns:a="http://schemas.openxmlformats.org/drawingml/2006/main">
              <a:ext uri="{FF2B5EF4-FFF2-40B4-BE49-F238E27FC236}">
                <a16:creationId xmlns:a16="http://schemas.microsoft.com/office/drawing/2014/main" id="{C59FA28F-E1DB-4FD4-97A9-8D3D4045C648}"/>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Some families visit less often in the case. Wider adoption could normalize replacing personal care with devices.</a:t>
            </a:r>
          </a:p>
        </p:txBody>
      </p:sp>
      <p:sp>
        <p:nvSpPr>
          <p:cNvPr id="5" name="">
            <a:extLst xmlns:a="http://schemas.openxmlformats.org/drawingml/2006/main">
              <a:ext uri="{FF2B5EF4-FFF2-40B4-BE49-F238E27FC236}">
                <a16:creationId xmlns:a16="http://schemas.microsoft.com/office/drawing/2014/main" id="{E81D94DB-01C3-4D41-B447-7489FF4EC442}"/>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Dependency</a:t>
            </a:r>
          </a:p>
        </p:txBody>
      </p:sp>
      <p:sp>
        <p:nvSpPr>
          <p:cNvPr id="6" name="">
            <a:extLst xmlns:a="http://schemas.openxmlformats.org/drawingml/2006/main">
              <a:ext uri="{FF2B5EF4-FFF2-40B4-BE49-F238E27FC236}">
                <a16:creationId xmlns:a16="http://schemas.microsoft.com/office/drawing/2014/main" id="{F2B80277-AF1D-44E4-A44C-9855F44424E1}"/>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Attachment may discourage independent activity or human contact. Outages and vendor withdrawal could cause distress.</a:t>
            </a:r>
          </a:p>
        </p:txBody>
      </p:sp>
      <p:sp>
        <p:nvSpPr>
          <p:cNvPr id="7" name="">
            <a:extLst xmlns:a="http://schemas.openxmlformats.org/drawingml/2006/main">
              <a:ext uri="{FF2B5EF4-FFF2-40B4-BE49-F238E27FC236}">
                <a16:creationId xmlns:a16="http://schemas.microsoft.com/office/drawing/2014/main" id="{01454FFC-1FA5-426D-A4D2-4644E51841E5}"/>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Deception and control</a:t>
            </a:r>
          </a:p>
        </p:txBody>
      </p:sp>
      <p:sp>
        <p:nvSpPr>
          <p:cNvPr id="8" name="">
            <a:extLst xmlns:a="http://schemas.openxmlformats.org/drawingml/2006/main">
              <a:ext uri="{FF2B5EF4-FFF2-40B4-BE49-F238E27FC236}">
                <a16:creationId xmlns:a16="http://schemas.microsoft.com/office/drawing/2014/main" id="{EE9403B8-7676-44D4-99F8-78819FCF93FA}"/>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Human-like conversation may mislead users about reciprocity. Continual surveillance can weaken autonomy.</a:t>
            </a:r>
          </a:p>
        </p:txBody>
      </p:sp>
      <p:sp>
        <p:nvSpPr>
          <p:cNvPr id="9" name="">
            <a:extLst xmlns:a="http://schemas.openxmlformats.org/drawingml/2006/main">
              <a:ext uri="{FF2B5EF4-FFF2-40B4-BE49-F238E27FC236}">
                <a16:creationId xmlns:a16="http://schemas.microsoft.com/office/drawing/2014/main" id="{C7A39E20-F32E-4CCD-A85B-FE4483D4F17F}"/>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Clinical and equity</a:t>
            </a:r>
          </a:p>
        </p:txBody>
      </p:sp>
      <p:sp>
        <p:nvSpPr>
          <p:cNvPr id="10" name="">
            <a:extLst xmlns:a="http://schemas.openxmlformats.org/drawingml/2006/main">
              <a:ext uri="{FF2B5EF4-FFF2-40B4-BE49-F238E27FC236}">
                <a16:creationId xmlns:a16="http://schemas.microsoft.com/office/drawing/2014/main" id="{98037A1A-6926-4FCE-A3EA-630F44CBA2F3}"/>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Missed distress or wrong reminders may harm users. Unequal access and error rates could widen care disparities.</a:t>
            </a:r>
          </a:p>
        </p:txBody>
      </p:sp>
      <p:sp>
        <p:nvSpPr>
          <p:cNvPr id="11" name="">
            <a:extLst xmlns:a="http://schemas.openxmlformats.org/drawingml/2006/main">
              <a:ext uri="{FF2B5EF4-FFF2-40B4-BE49-F238E27FC236}">
                <a16:creationId xmlns:a16="http://schemas.microsoft.com/office/drawing/2014/main" id="{23B853E0-173D-44AA-BA42-4382F63513BE}"/>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Ethical context: Sharkey and Sharkey (2012)</a:t>
            </a:r>
          </a:p>
        </p:txBody>
      </p:sp>
    </p:spTree>
    <p:extLst>
      <p:ext uri="{BB962C8B-B14F-4D97-AF65-F5344CB8AC3E}">
        <p14:creationId xmlns:p14="http://schemas.microsoft.com/office/powerpoint/2010/main" val="190521431"/>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4F701E-3E0C-4C7D-8150-F3695B7EFA87}"/>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Recommended way forward</a:t>
            </a:r>
          </a:p>
        </p:txBody>
      </p:sp>
      <p:sp>
        <p:nvSpPr>
          <p:cNvPr id="2" name="">
            <a:extLst xmlns:a="http://schemas.openxmlformats.org/drawingml/2006/main">
              <a:ext uri="{FF2B5EF4-FFF2-40B4-BE49-F238E27FC236}">
                <a16:creationId xmlns:a16="http://schemas.microsoft.com/office/drawing/2014/main" id="{B423795D-64DF-45C6-8D99-763D5D8046FD}"/>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06</a:t>
            </a:r>
          </a:p>
        </p:txBody>
      </p:sp>
      <p:sp>
        <p:nvSpPr>
          <p:cNvPr id="3" name="">
            <a:extLst xmlns:a="http://schemas.openxmlformats.org/drawingml/2006/main">
              <a:ext uri="{FF2B5EF4-FFF2-40B4-BE49-F238E27FC236}">
                <a16:creationId xmlns:a16="http://schemas.microsoft.com/office/drawing/2014/main" id="{BCF2868A-E01E-435D-998F-5FD3C09F7505}"/>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Limited deployment</a:t>
            </a:r>
          </a:p>
        </p:txBody>
      </p:sp>
      <p:sp>
        <p:nvSpPr>
          <p:cNvPr id="4" name="">
            <a:extLst xmlns:a="http://schemas.openxmlformats.org/drawingml/2006/main">
              <a:ext uri="{FF2B5EF4-FFF2-40B4-BE49-F238E27FC236}">
                <a16:creationId xmlns:a16="http://schemas.microsoft.com/office/drawing/2014/main" id="{416E3DB0-A2B2-40D4-920F-25C0A480D943}"/>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Continue an opt-in, supervised pilot. Hold broad expansion until independent evaluation supports sustained benefits.</a:t>
            </a:r>
          </a:p>
        </p:txBody>
      </p:sp>
      <p:sp>
        <p:nvSpPr>
          <p:cNvPr id="5" name="">
            <a:extLst xmlns:a="http://schemas.openxmlformats.org/drawingml/2006/main">
              <a:ext uri="{FF2B5EF4-FFF2-40B4-BE49-F238E27FC236}">
                <a16:creationId xmlns:a16="http://schemas.microsoft.com/office/drawing/2014/main" id="{A4186224-9C44-4B95-9F1B-47B6F0048E75}"/>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Care commitments</a:t>
            </a:r>
          </a:p>
        </p:txBody>
      </p:sp>
      <p:sp>
        <p:nvSpPr>
          <p:cNvPr id="6" name="">
            <a:extLst xmlns:a="http://schemas.openxmlformats.org/drawingml/2006/main">
              <a:ext uri="{FF2B5EF4-FFF2-40B4-BE49-F238E27FC236}">
                <a16:creationId xmlns:a16="http://schemas.microsoft.com/office/drawing/2014/main" id="{B9110FD5-70C3-47F9-9815-464A44EFA2A7}"/>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Create an individual human-contact plan. Facilities retain staffing commitments and review missed family or caregiver visits.</a:t>
            </a:r>
          </a:p>
        </p:txBody>
      </p:sp>
      <p:sp>
        <p:nvSpPr>
          <p:cNvPr id="7" name="">
            <a:extLst xmlns:a="http://schemas.openxmlformats.org/drawingml/2006/main">
              <a:ext uri="{FF2B5EF4-FFF2-40B4-BE49-F238E27FC236}">
                <a16:creationId xmlns:a16="http://schemas.microsoft.com/office/drawing/2014/main" id="{56C503AA-CC41-4E71-8854-AC91FDE5F6CB}"/>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Honest assistance</a:t>
            </a:r>
          </a:p>
        </p:txBody>
      </p:sp>
      <p:sp>
        <p:nvSpPr>
          <p:cNvPr id="8" name="">
            <a:extLst xmlns:a="http://schemas.openxmlformats.org/drawingml/2006/main">
              <a:ext uri="{FF2B5EF4-FFF2-40B4-BE49-F238E27FC236}">
                <a16:creationId xmlns:a16="http://schemas.microsoft.com/office/drawing/2014/main" id="{E43BD443-B3D0-4D3B-853C-538B153FA3FA}"/>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Explain that Elara simulates conversation and cannot replace a clinician. Prohibit exclusive-bond messages or guilt-based prompts.</a:t>
            </a:r>
          </a:p>
        </p:txBody>
      </p:sp>
      <p:sp>
        <p:nvSpPr>
          <p:cNvPr id="9" name="">
            <a:extLst xmlns:a="http://schemas.openxmlformats.org/drawingml/2006/main">
              <a:ext uri="{FF2B5EF4-FFF2-40B4-BE49-F238E27FC236}">
                <a16:creationId xmlns:a16="http://schemas.microsoft.com/office/drawing/2014/main" id="{F8883509-5F35-4B2C-A1F4-6EECE31612F7}"/>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User control</a:t>
            </a:r>
          </a:p>
        </p:txBody>
      </p:sp>
      <p:sp>
        <p:nvSpPr>
          <p:cNvPr id="10" name="">
            <a:extLst xmlns:a="http://schemas.openxmlformats.org/drawingml/2006/main">
              <a:ext uri="{FF2B5EF4-FFF2-40B4-BE49-F238E27FC236}">
                <a16:creationId xmlns:a16="http://schemas.microsoft.com/office/drawing/2014/main" id="{82F9A94E-3F60-454A-9A7F-ED2345502D3D}"/>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Use understandable consent and reassess capacity. Offer pause, deletion and human alternatives with appropriate safeguards.</a:t>
            </a:r>
          </a:p>
        </p:txBody>
      </p:sp>
      <p:sp>
        <p:nvSpPr>
          <p:cNvPr id="11" name="">
            <a:extLst xmlns:a="http://schemas.openxmlformats.org/drawingml/2006/main">
              <a:ext uri="{FF2B5EF4-FFF2-40B4-BE49-F238E27FC236}">
                <a16:creationId xmlns:a16="http://schemas.microsoft.com/office/drawing/2014/main" id="{2E774E0D-606F-48DE-B81A-3615DE954F2E}"/>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Justification: Pu et al. (2019); Sharkey &amp; Sharkey (2012)</a:t>
            </a:r>
          </a:p>
        </p:txBody>
      </p:sp>
    </p:spTree>
    <p:extLst>
      <p:ext uri="{BB962C8B-B14F-4D97-AF65-F5344CB8AC3E}">
        <p14:creationId xmlns:p14="http://schemas.microsoft.com/office/powerpoint/2010/main" val="1470814220"/>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B8282FF-45D8-453C-AE51-F46C535B4C84}"/>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Scholarly justification for the recommendation</a:t>
            </a:r>
          </a:p>
        </p:txBody>
      </p:sp>
      <p:sp>
        <p:nvSpPr>
          <p:cNvPr id="2" name="">
            <a:extLst xmlns:a="http://schemas.openxmlformats.org/drawingml/2006/main">
              <a:ext uri="{FF2B5EF4-FFF2-40B4-BE49-F238E27FC236}">
                <a16:creationId xmlns:a16="http://schemas.microsoft.com/office/drawing/2014/main" id="{77093CDF-B882-4270-8AD4-AD074EFDB094}"/>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07</a:t>
            </a:r>
          </a:p>
        </p:txBody>
      </p:sp>
      <p:sp>
        <p:nvSpPr>
          <p:cNvPr id="3" name="">
            <a:extLst xmlns:a="http://schemas.openxmlformats.org/drawingml/2006/main">
              <a:ext uri="{FF2B5EF4-FFF2-40B4-BE49-F238E27FC236}">
                <a16:creationId xmlns:a16="http://schemas.microsoft.com/office/drawing/2014/main" id="{AD1D5433-10AC-417E-B769-A01E10AFEE70}"/>
              </a:ext>
            </a:extLst>
          </p:cNvPr>
          <p:cNvSpPr>
            <a:spLocks xmlns:a="http://schemas.openxmlformats.org/drawingml/2006/main" noGrp="1"/>
          </p:cNvSpPr>
          <p:nvPr/>
        </p:nvSpPr>
        <p:spPr>
          <a:xfrm xmlns:a="http://schemas.openxmlformats.org/drawingml/2006/main">
            <a:off x="609600"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2"/>
                </a:solidFill>
                <a:latin typeface="Bitstream Charter"/>
                <a:ea typeface="Bitstream Charter"/>
                <a:cs typeface="Bitstream Charter"/>
              </a:defRPr>
            </a:pPr>
            <a:r>
              <a:rPr sz="2325" b="1">
                <a:solidFill>
                  <a:srgbClr val="087F82"/>
                </a:solidFill>
                <a:latin typeface="Bitstream Charter"/>
                <a:ea typeface="Bitstream Charter"/>
                <a:cs typeface="Bitstream Charter"/>
              </a:rPr>
              <a:t>Evidence of possible benefit</a:t>
            </a:r>
          </a:p>
        </p:txBody>
      </p:sp>
      <p:sp>
        <p:nvSpPr>
          <p:cNvPr id="4" name="">
            <a:extLst xmlns:a="http://schemas.openxmlformats.org/drawingml/2006/main">
              <a:ext uri="{FF2B5EF4-FFF2-40B4-BE49-F238E27FC236}">
                <a16:creationId xmlns:a16="http://schemas.microsoft.com/office/drawing/2014/main" id="{1B05B4D6-0C1B-403A-B687-76C8020A1FE3}"/>
              </a:ext>
            </a:extLst>
          </p:cNvPr>
          <p:cNvSpPr>
            <a:spLocks xmlns:a="http://schemas.openxmlformats.org/drawingml/2006/main" noGrp="1"/>
          </p:cNvSpPr>
          <p:nvPr/>
        </p:nvSpPr>
        <p:spPr>
          <a:xfrm xmlns:a="http://schemas.openxmlformats.org/drawingml/2006/main">
            <a:off x="6381750"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2"/>
                </a:solidFill>
                <a:latin typeface="Bitstream Charter"/>
                <a:ea typeface="Bitstream Charter"/>
                <a:cs typeface="Bitstream Charter"/>
              </a:defRPr>
            </a:pPr>
            <a:r>
              <a:rPr sz="2325" b="1">
                <a:solidFill>
                  <a:srgbClr val="087F82"/>
                </a:solidFill>
                <a:latin typeface="Bitstream Charter"/>
                <a:ea typeface="Bitstream Charter"/>
                <a:cs typeface="Bitstream Charter"/>
              </a:rPr>
              <a:t>Ethical conditions for use</a:t>
            </a:r>
          </a:p>
        </p:txBody>
      </p:sp>
      <p:sp>
        <p:nvSpPr>
          <p:cNvPr id="5" name="">
            <a:extLst xmlns:a="http://schemas.openxmlformats.org/drawingml/2006/main">
              <a:ext uri="{FF2B5EF4-FFF2-40B4-BE49-F238E27FC236}">
                <a16:creationId xmlns:a16="http://schemas.microsoft.com/office/drawing/2014/main" id="{33934488-17CA-493E-A5AF-A62319EE755E}"/>
              </a:ext>
            </a:extLst>
          </p:cNvPr>
          <p:cNvSpPr>
            <a:spLocks xmlns:a="http://schemas.openxmlformats.org/drawingml/2006/main" noGrp="1"/>
          </p:cNvSpPr>
          <p:nvPr/>
        </p:nvSpPr>
        <p:spPr>
          <a:xfrm xmlns:a="http://schemas.openxmlformats.org/drawingml/2006/main">
            <a:off x="609600" y="2286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Pu et al. (2019) reviewed 11 randomized trials, with nine included in meta-analysis.</a:t>
            </a:r>
          </a:p>
        </p:txBody>
      </p:sp>
      <p:sp>
        <p:nvSpPr>
          <p:cNvPr id="6" name="">
            <a:extLst xmlns:a="http://schemas.openxmlformats.org/drawingml/2006/main">
              <a:ext uri="{FF2B5EF4-FFF2-40B4-BE49-F238E27FC236}">
                <a16:creationId xmlns:a16="http://schemas.microsoft.com/office/drawing/2014/main" id="{64DA8CAF-E6AE-4D65-BF57-8C93103BF855}"/>
              </a:ext>
            </a:extLst>
          </p:cNvPr>
          <p:cNvSpPr>
            <a:spLocks xmlns:a="http://schemas.openxmlformats.org/drawingml/2006/main" noGrp="1"/>
          </p:cNvSpPr>
          <p:nvPr/>
        </p:nvSpPr>
        <p:spPr>
          <a:xfrm xmlns:a="http://schemas.openxmlformats.org/drawingml/2006/main">
            <a:off x="609600" y="3238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Their narrative review suggested potential engagement and loneliness benefits.</a:t>
            </a:r>
          </a:p>
        </p:txBody>
      </p:sp>
      <p:sp>
        <p:nvSpPr>
          <p:cNvPr id="7" name="">
            <a:extLst xmlns:a="http://schemas.openxmlformats.org/drawingml/2006/main">
              <a:ext uri="{FF2B5EF4-FFF2-40B4-BE49-F238E27FC236}">
                <a16:creationId xmlns:a16="http://schemas.microsoft.com/office/drawing/2014/main" id="{605CEF82-1D65-4561-B9E3-75C23473EA7A}"/>
              </a:ext>
            </a:extLst>
          </p:cNvPr>
          <p:cNvSpPr>
            <a:spLocks xmlns:a="http://schemas.openxmlformats.org/drawingml/2006/main" noGrp="1"/>
          </p:cNvSpPr>
          <p:nvPr/>
        </p:nvSpPr>
        <p:spPr>
          <a:xfrm xmlns:a="http://schemas.openxmlformats.org/drawingml/2006/main">
            <a:off x="609600" y="4191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Study quality and nonsignificant pooled outcomes limit confidence. A controlled pilot is justified.</a:t>
            </a:r>
          </a:p>
        </p:txBody>
      </p:sp>
      <p:sp>
        <p:nvSpPr>
          <p:cNvPr id="8" name="">
            <a:extLst xmlns:a="http://schemas.openxmlformats.org/drawingml/2006/main">
              <a:ext uri="{FF2B5EF4-FFF2-40B4-BE49-F238E27FC236}">
                <a16:creationId xmlns:a16="http://schemas.microsoft.com/office/drawing/2014/main" id="{F51C4B01-157E-4D54-8083-84C1656DA455}"/>
              </a:ext>
            </a:extLst>
          </p:cNvPr>
          <p:cNvSpPr>
            <a:spLocks xmlns:a="http://schemas.openxmlformats.org/drawingml/2006/main" noGrp="1"/>
          </p:cNvSpPr>
          <p:nvPr/>
        </p:nvSpPr>
        <p:spPr>
          <a:xfrm xmlns:a="http://schemas.openxmlformats.org/drawingml/2006/main">
            <a:off x="6381750" y="2286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Sharkey and Sharkey (2012) examines ethical tradeoffs in care robots.</a:t>
            </a:r>
          </a:p>
        </p:txBody>
      </p:sp>
      <p:sp>
        <p:nvSpPr>
          <p:cNvPr id="9" name="">
            <a:extLst xmlns:a="http://schemas.openxmlformats.org/drawingml/2006/main">
              <a:ext uri="{FF2B5EF4-FFF2-40B4-BE49-F238E27FC236}">
                <a16:creationId xmlns:a16="http://schemas.microsoft.com/office/drawing/2014/main" id="{3F9F6B16-4EBC-4BA2-8A34-85C317FD5464}"/>
              </a:ext>
            </a:extLst>
          </p:cNvPr>
          <p:cNvSpPr>
            <a:spLocks xmlns:a="http://schemas.openxmlformats.org/drawingml/2006/main" noGrp="1"/>
          </p:cNvSpPr>
          <p:nvPr/>
        </p:nvSpPr>
        <p:spPr>
          <a:xfrm xmlns:a="http://schemas.openxmlformats.org/drawingml/2006/main">
            <a:off x="6381750" y="3238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The authors identify risks to contact, privacy and control, including deception.</a:t>
            </a:r>
          </a:p>
        </p:txBody>
      </p:sp>
      <p:sp>
        <p:nvSpPr>
          <p:cNvPr id="10" name="">
            <a:extLst xmlns:a="http://schemas.openxmlformats.org/drawingml/2006/main">
              <a:ext uri="{FF2B5EF4-FFF2-40B4-BE49-F238E27FC236}">
                <a16:creationId xmlns:a16="http://schemas.microsoft.com/office/drawing/2014/main" id="{EFA4A03D-4250-41AE-8E17-DBA917689F6C}"/>
              </a:ext>
            </a:extLst>
          </p:cNvPr>
          <p:cNvSpPr>
            <a:spLocks xmlns:a="http://schemas.openxmlformats.org/drawingml/2006/main" noGrp="1"/>
          </p:cNvSpPr>
          <p:nvPr/>
        </p:nvSpPr>
        <p:spPr>
          <a:xfrm xmlns:a="http://schemas.openxmlformats.org/drawingml/2006/main">
            <a:off x="6381750" y="4191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Protected human care and informed choice should accompany any expansion.</a:t>
            </a:r>
          </a:p>
        </p:txBody>
      </p:sp>
      <p:sp>
        <p:nvSpPr>
          <p:cNvPr id="11" name="">
            <a:extLst xmlns:a="http://schemas.openxmlformats.org/drawingml/2006/main">
              <a:ext uri="{FF2B5EF4-FFF2-40B4-BE49-F238E27FC236}">
                <a16:creationId xmlns:a16="http://schemas.microsoft.com/office/drawing/2014/main" id="{080AF32A-564B-4834-A6CB-FCEB77E46C61}"/>
              </a:ext>
            </a:extLst>
          </p:cNvPr>
          <p:cNvSpPr>
            <a:spLocks xmlns:a="http://schemas.openxmlformats.org/drawingml/2006/main" noGrp="1"/>
          </p:cNvSpPr>
          <p:nvPr/>
        </p:nvSpPr>
        <p:spPr>
          <a:xfrm xmlns:a="http://schemas.openxmlformats.org/drawingml/2006/main">
            <a:off x="60960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Neither source evaluates Elara. The recommendation applies their evidence and ethical analysis to this case.</a:t>
            </a:r>
          </a:p>
        </p:txBody>
      </p:sp>
    </p:spTree>
    <p:extLst>
      <p:ext uri="{BB962C8B-B14F-4D97-AF65-F5344CB8AC3E}">
        <p14:creationId xmlns:p14="http://schemas.microsoft.com/office/powerpoint/2010/main" val="1665012862"/>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3F0625-3176-4B83-91BE-20D6D3619C29}"/>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Evaluation and long-term oversight</a:t>
            </a:r>
          </a:p>
        </p:txBody>
      </p:sp>
      <p:sp>
        <p:nvSpPr>
          <p:cNvPr id="2" name="">
            <a:extLst xmlns:a="http://schemas.openxmlformats.org/drawingml/2006/main">
              <a:ext uri="{FF2B5EF4-FFF2-40B4-BE49-F238E27FC236}">
                <a16:creationId xmlns:a16="http://schemas.microsoft.com/office/drawing/2014/main" id="{E90D7829-2112-4F81-841F-A7D700F21399}"/>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08</a:t>
            </a:r>
          </a:p>
        </p:txBody>
      </p:sp>
      <p:sp>
        <p:nvSpPr>
          <p:cNvPr id="3" name="">
            <a:extLst xmlns:a="http://schemas.openxmlformats.org/drawingml/2006/main">
              <a:ext uri="{FF2B5EF4-FFF2-40B4-BE49-F238E27FC236}">
                <a16:creationId xmlns:a16="http://schemas.microsoft.com/office/drawing/2014/main" id="{B558980A-8566-4C54-9544-38339D4583D5}"/>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Follow-up</a:t>
            </a:r>
          </a:p>
        </p:txBody>
      </p:sp>
      <p:sp>
        <p:nvSpPr>
          <p:cNvPr id="4" name="">
            <a:extLst xmlns:a="http://schemas.openxmlformats.org/drawingml/2006/main">
              <a:ext uri="{FF2B5EF4-FFF2-40B4-BE49-F238E27FC236}">
                <a16:creationId xmlns:a16="http://schemas.microsoft.com/office/drawing/2014/main" id="{DA1FFABB-C2DF-4DEF-945C-9FE89E71D8C0}"/>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Compare Elara plus usual care with usual care at 3, 6 and 12 months. Use validated mood and loneliness measures.</a:t>
            </a:r>
          </a:p>
        </p:txBody>
      </p:sp>
      <p:sp>
        <p:nvSpPr>
          <p:cNvPr id="5" name="">
            <a:extLst xmlns:a="http://schemas.openxmlformats.org/drawingml/2006/main">
              <a:ext uri="{FF2B5EF4-FFF2-40B4-BE49-F238E27FC236}">
                <a16:creationId xmlns:a16="http://schemas.microsoft.com/office/drawing/2014/main" id="{C8F6732A-DEEC-4EAB-9DBC-C7D20E4FE510}"/>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Social outcomes</a:t>
            </a:r>
          </a:p>
        </p:txBody>
      </p:sp>
      <p:sp>
        <p:nvSpPr>
          <p:cNvPr id="6" name="">
            <a:extLst xmlns:a="http://schemas.openxmlformats.org/drawingml/2006/main">
              <a:ext uri="{FF2B5EF4-FFF2-40B4-BE49-F238E27FC236}">
                <a16:creationId xmlns:a16="http://schemas.microsoft.com/office/drawing/2014/main" id="{17F07AB1-EF00-40E5-B89F-9075CE59EBB9}"/>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Track human contact, independent activities and unwanted attachment. Assess user preferences, not only robot engagement.</a:t>
            </a:r>
          </a:p>
        </p:txBody>
      </p:sp>
      <p:sp>
        <p:nvSpPr>
          <p:cNvPr id="7" name="">
            <a:extLst xmlns:a="http://schemas.openxmlformats.org/drawingml/2006/main">
              <a:ext uri="{FF2B5EF4-FFF2-40B4-BE49-F238E27FC236}">
                <a16:creationId xmlns:a16="http://schemas.microsoft.com/office/drawing/2014/main" id="{DC18685A-4D3E-4798-8A47-9FF31194222C}"/>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Response rules</a:t>
            </a:r>
          </a:p>
        </p:txBody>
      </p:sp>
      <p:sp>
        <p:nvSpPr>
          <p:cNvPr id="8" name="">
            <a:extLst xmlns:a="http://schemas.openxmlformats.org/drawingml/2006/main">
              <a:ext uri="{FF2B5EF4-FFF2-40B4-BE49-F238E27FC236}">
                <a16:creationId xmlns:a16="http://schemas.microsoft.com/office/drawing/2014/main" id="{60C3AD5C-A4F9-44CD-B771-AD4B2F86F28F}"/>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Clinical lead verifies alerts. Privacy lead audits access. Pause affected functions after serious safety or privacy incidents.</a:t>
            </a:r>
          </a:p>
        </p:txBody>
      </p:sp>
      <p:sp>
        <p:nvSpPr>
          <p:cNvPr id="9" name="">
            <a:extLst xmlns:a="http://schemas.openxmlformats.org/drawingml/2006/main">
              <a:ext uri="{FF2B5EF4-FFF2-40B4-BE49-F238E27FC236}">
                <a16:creationId xmlns:a16="http://schemas.microsoft.com/office/drawing/2014/main" id="{53F5C36D-B52E-4AA8-80D8-BF91CC689B0D}"/>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Sustainment</a:t>
            </a:r>
          </a:p>
        </p:txBody>
      </p:sp>
      <p:sp>
        <p:nvSpPr>
          <p:cNvPr id="10" name="">
            <a:extLst xmlns:a="http://schemas.openxmlformats.org/drawingml/2006/main">
              <a:ext uri="{FF2B5EF4-FFF2-40B4-BE49-F238E27FC236}">
                <a16:creationId xmlns:a16="http://schemas.microsoft.com/office/drawing/2014/main" id="{2A7F6281-6C73-4CF3-B7B9-75EA11AF5952}"/>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An independent review board approves expansion. Maintain backups, human support and a vendor shutdown transition plan.</a:t>
            </a:r>
          </a:p>
        </p:txBody>
      </p:sp>
      <p:sp>
        <p:nvSpPr>
          <p:cNvPr id="11" name="">
            <a:extLst xmlns:a="http://schemas.openxmlformats.org/drawingml/2006/main">
              <a:ext uri="{FF2B5EF4-FFF2-40B4-BE49-F238E27FC236}">
                <a16:creationId xmlns:a16="http://schemas.microsoft.com/office/drawing/2014/main" id="{F830FAC5-3924-4A1B-B3CB-74360F86CE93}"/>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Proposed safeguards and measures, subject to consent and review</a:t>
            </a:r>
          </a:p>
        </p:txBody>
      </p:sp>
    </p:spTree>
    <p:extLst>
      <p:ext uri="{BB962C8B-B14F-4D97-AF65-F5344CB8AC3E}">
        <p14:creationId xmlns:p14="http://schemas.microsoft.com/office/powerpoint/2010/main" val="437226589"/>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405BE6-4883-4B4D-BA93-B1B3B53032E3}"/>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References</a:t>
            </a:r>
          </a:p>
        </p:txBody>
      </p:sp>
      <p:sp>
        <p:nvSpPr>
          <p:cNvPr id="2" name="">
            <a:extLst xmlns:a="http://schemas.openxmlformats.org/drawingml/2006/main">
              <a:ext uri="{FF2B5EF4-FFF2-40B4-BE49-F238E27FC236}">
                <a16:creationId xmlns:a16="http://schemas.microsoft.com/office/drawing/2014/main" id="{AB1F45EF-0A73-4879-8367-D8EE6D9E57D6}"/>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09</a:t>
            </a:r>
          </a:p>
        </p:txBody>
      </p:sp>
      <p:sp>
        <p:nvSpPr>
          <p:cNvPr id="3" name="">
            <a:extLst xmlns:a="http://schemas.openxmlformats.org/drawingml/2006/main">
              <a:ext uri="{FF2B5EF4-FFF2-40B4-BE49-F238E27FC236}">
                <a16:creationId xmlns:a16="http://schemas.microsoft.com/office/drawing/2014/main" id="{57E6BE35-4815-4218-86A5-8B1475B518FE}"/>
              </a:ext>
            </a:extLst>
          </p:cNvPr>
          <p:cNvSpPr>
            <a:spLocks xmlns:a="http://schemas.openxmlformats.org/drawingml/2006/main" noGrp="1"/>
          </p:cNvSpPr>
          <p:nvPr/>
        </p:nvSpPr>
        <p:spPr>
          <a:xfrm xmlns:a="http://schemas.openxmlformats.org/drawingml/2006/main">
            <a:off x="609600" y="1714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847"/>
                </a:solidFill>
                <a:latin typeface="Bitstream Charter"/>
                <a:ea typeface="Bitstream Charter"/>
                <a:cs typeface="Bitstream Charter"/>
              </a:defRPr>
            </a:pPr>
            <a:r>
              <a:rPr sz="2100" b="0">
                <a:solidFill>
                  <a:srgbClr val="233847"/>
                </a:solidFill>
                <a:latin typeface="Bitstream Charter"/>
                <a:ea typeface="Bitstream Charter"/>
                <a:cs typeface="Bitstream Charter"/>
              </a:rPr>
              <a:t>Pu, L., Moyle, W., Jones, C., &amp; Todorovic, M. (2019). The effectiveness of social robots for older adults: A systematic review and meta-analysis of randomized controlled studies. </a:t>
            </a:r>
            <a:r>
              <a:rPr sz="2100" b="0" i="1">
                <a:solidFill>
                  <a:srgbClr val="233847"/>
                </a:solidFill>
                <a:latin typeface="Bitstream Charter"/>
                <a:ea typeface="Bitstream Charter"/>
                <a:cs typeface="Bitstream Charter"/>
              </a:rPr>
              <a:t>The Gerontologist, 59</a:t>
            </a:r>
            <a:r>
              <a:rPr sz="2100" b="0">
                <a:solidFill>
                  <a:srgbClr val="233847"/>
                </a:solidFill>
                <a:latin typeface="Bitstream Charter"/>
                <a:ea typeface="Bitstream Charter"/>
                <a:cs typeface="Bitstream Charter"/>
              </a:rPr>
              <a:t>(1), e37–e51.</a:t>
            </a:r>
          </a:p>
        </p:txBody>
      </p:sp>
      <p:sp>
        <p:nvSpPr>
          <p:cNvPr id="4" name="">
            <a:extLst xmlns:a="http://schemas.openxmlformats.org/drawingml/2006/main">
              <a:ext uri="{FF2B5EF4-FFF2-40B4-BE49-F238E27FC236}">
                <a16:creationId xmlns:a16="http://schemas.microsoft.com/office/drawing/2014/main" id="{5DFC6358-BED5-411F-A4F3-5D38261D0E7C}"/>
              </a:ext>
            </a:extLst>
          </p:cNvPr>
          <p:cNvSpPr>
            <a:spLocks xmlns:a="http://schemas.openxmlformats.org/drawingml/2006/main" noGrp="1"/>
          </p:cNvSpPr>
          <p:nvPr/>
        </p:nvSpPr>
        <p:spPr>
          <a:xfrm xmlns:a="http://schemas.openxmlformats.org/drawingml/2006/main">
            <a:off x="609600" y="3286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2"/>
                </a:solidFill>
                <a:latin typeface="Bitstream Charter"/>
                <a:ea typeface="Bitstream Charter"/>
                <a:cs typeface="Bitstream Charter"/>
              </a:defRPr>
            </a:pPr>
            <a:r>
              <a:rPr sz="1800" b="0">
                <a:solidFill>
                  <a:srgbClr val="087F82"/>
                </a:solidFill>
                <a:latin typeface="Bitstream Charter"/>
                <a:ea typeface="Bitstream Charter"/>
                <a:cs typeface="Bitstream Charter"/>
              </a:rPr>
              <a:t>https://doi.org/10.1093/geront/gny046</a:t>
            </a:r>
          </a:p>
        </p:txBody>
      </p:sp>
      <p:sp>
        <p:nvSpPr>
          <p:cNvPr id="5" name="">
            <a:extLst xmlns:a="http://schemas.openxmlformats.org/drawingml/2006/main">
              <a:ext uri="{FF2B5EF4-FFF2-40B4-BE49-F238E27FC236}">
                <a16:creationId xmlns:a16="http://schemas.microsoft.com/office/drawing/2014/main" id="{1CBAF77E-CB00-4357-BC26-9C8AA67BAC32}"/>
              </a:ext>
            </a:extLst>
          </p:cNvPr>
          <p:cNvSpPr>
            <a:spLocks xmlns:a="http://schemas.openxmlformats.org/drawingml/2006/main" noGrp="1"/>
          </p:cNvSpPr>
          <p:nvPr/>
        </p:nvSpPr>
        <p:spPr>
          <a:xfrm xmlns:a="http://schemas.openxmlformats.org/drawingml/2006/main">
            <a:off x="609600" y="414337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847"/>
                </a:solidFill>
                <a:latin typeface="Bitstream Charter"/>
                <a:ea typeface="Bitstream Charter"/>
                <a:cs typeface="Bitstream Charter"/>
              </a:defRPr>
            </a:pPr>
            <a:r>
              <a:rPr sz="2100" b="0">
                <a:solidFill>
                  <a:srgbClr val="233847"/>
                </a:solidFill>
                <a:latin typeface="Bitstream Charter"/>
                <a:ea typeface="Bitstream Charter"/>
                <a:cs typeface="Bitstream Charter"/>
              </a:rPr>
              <a:t>Sharkey, A., &amp; Sharkey, N. (2012). Granny and the robots: Ethical issues in robot care for the elderly. </a:t>
            </a:r>
            <a:r>
              <a:rPr sz="2100" b="0" i="1">
                <a:solidFill>
                  <a:srgbClr val="233847"/>
                </a:solidFill>
                <a:latin typeface="Bitstream Charter"/>
                <a:ea typeface="Bitstream Charter"/>
                <a:cs typeface="Bitstream Charter"/>
              </a:rPr>
              <a:t>Ethics and Information Technology, 14</a:t>
            </a:r>
            <a:r>
              <a:rPr sz="2100" b="0">
                <a:solidFill>
                  <a:srgbClr val="233847"/>
                </a:solidFill>
                <a:latin typeface="Bitstream Charter"/>
                <a:ea typeface="Bitstream Charter"/>
                <a:cs typeface="Bitstream Charter"/>
              </a:rPr>
              <a:t>(1), 27–40.</a:t>
            </a:r>
          </a:p>
        </p:txBody>
      </p:sp>
      <p:sp>
        <p:nvSpPr>
          <p:cNvPr id="6" name="">
            <a:extLst xmlns:a="http://schemas.openxmlformats.org/drawingml/2006/main">
              <a:ext uri="{FF2B5EF4-FFF2-40B4-BE49-F238E27FC236}">
                <a16:creationId xmlns:a16="http://schemas.microsoft.com/office/drawing/2014/main" id="{C8738F45-7E46-4020-92B0-6D5FDF8143BF}"/>
              </a:ext>
            </a:extLst>
          </p:cNvPr>
          <p:cNvSpPr>
            <a:spLocks xmlns:a="http://schemas.openxmlformats.org/drawingml/2006/main" noGrp="1"/>
          </p:cNvSpPr>
          <p:nvPr/>
        </p:nvSpPr>
        <p:spPr>
          <a:xfrm xmlns:a="http://schemas.openxmlformats.org/drawingml/2006/main">
            <a:off x="60960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2"/>
                </a:solidFill>
                <a:latin typeface="Bitstream Charter"/>
                <a:ea typeface="Bitstream Charter"/>
                <a:cs typeface="Bitstream Charter"/>
              </a:defRPr>
            </a:pPr>
            <a:r>
              <a:rPr sz="1800" b="0">
                <a:solidFill>
                  <a:srgbClr val="087F82"/>
                </a:solidFill>
                <a:latin typeface="Bitstream Charter"/>
                <a:ea typeface="Bitstream Charter"/>
                <a:cs typeface="Bitstream Charter"/>
              </a:rPr>
              <a:t>https://doi.org/10.1007/s10676-010-9234-6</a:t>
            </a:r>
          </a:p>
        </p:txBody>
      </p:sp>
    </p:spTree>
    <p:extLst>
      <p:ext uri="{BB962C8B-B14F-4D97-AF65-F5344CB8AC3E}">
        <p14:creationId xmlns:p14="http://schemas.microsoft.com/office/powerpoint/2010/main" val="1730118203"/>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731198-A129-45EC-B923-36FEEE74684C}"/>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Workshop reflection</a:t>
            </a:r>
          </a:p>
        </p:txBody>
      </p:sp>
      <p:sp>
        <p:nvSpPr>
          <p:cNvPr id="2" name="">
            <a:extLst xmlns:a="http://schemas.openxmlformats.org/drawingml/2006/main">
              <a:ext uri="{FF2B5EF4-FFF2-40B4-BE49-F238E27FC236}">
                <a16:creationId xmlns:a16="http://schemas.microsoft.com/office/drawing/2014/main" id="{EB77B8E9-6BE6-4DFD-847C-9062BF3E12F3}"/>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672286D1-625A-4E99-93F2-C6F2A79D7396}"/>
              </a:ext>
            </a:extLst>
          </p:cNvPr>
          <p:cNvSpPr>
            <a:spLocks xmlns:a="http://schemas.openxmlformats.org/drawingml/2006/main" noGrp="1"/>
          </p:cNvSpPr>
          <p:nvPr/>
        </p:nvSpPr>
        <p:spPr>
          <a:xfrm xmlns:a="http://schemas.openxmlformats.org/drawingml/2006/main">
            <a:off x="609600" y="1619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2"/>
                </a:solidFill>
                <a:latin typeface="Bitstream Charter"/>
                <a:ea typeface="Bitstream Charter"/>
                <a:cs typeface="Bitstream Charter"/>
              </a:defRPr>
            </a:pPr>
            <a:r>
              <a:rPr sz="2250" b="1">
                <a:solidFill>
                  <a:srgbClr val="087F82"/>
                </a:solidFill>
                <a:latin typeface="Bitstream Charter"/>
                <a:ea typeface="Bitstream Charter"/>
                <a:cs typeface="Bitstream Charter"/>
              </a:rPr>
              <a:t>Draft for personal review before submission</a:t>
            </a:r>
          </a:p>
        </p:txBody>
      </p:sp>
      <p:sp>
        <p:nvSpPr>
          <p:cNvPr id="4" name="">
            <a:extLst xmlns:a="http://schemas.openxmlformats.org/drawingml/2006/main">
              <a:ext uri="{FF2B5EF4-FFF2-40B4-BE49-F238E27FC236}">
                <a16:creationId xmlns:a16="http://schemas.microsoft.com/office/drawing/2014/main" id="{66C31F45-81B5-4231-865F-756F67ADB362}"/>
              </a:ext>
            </a:extLst>
          </p:cNvPr>
          <p:cNvSpPr>
            <a:spLocks xmlns:a="http://schemas.openxmlformats.org/drawingml/2006/main" noGrp="1"/>
          </p:cNvSpPr>
          <p:nvPr/>
        </p:nvSpPr>
        <p:spPr>
          <a:xfrm xmlns:a="http://schemas.openxmlformats.org/drawingml/2006/main">
            <a:off x="609600" y="2428875"/>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847"/>
                </a:solidFill>
                <a:latin typeface="Bitstream Charter"/>
                <a:ea typeface="Bitstream Charter"/>
                <a:cs typeface="Bitstream Charter"/>
              </a:defRPr>
            </a:pPr>
            <a:r>
              <a:rPr sz="2325" b="0">
                <a:solidFill>
                  <a:srgbClr val="233847"/>
                </a:solidFill>
                <a:latin typeface="Bitstream Charter"/>
                <a:ea typeface="Bitstream Charter"/>
                <a:cs typeface="Bitstream Charter"/>
              </a:rPr>
              <a:t>The hardest question for me is deciding when AI companionship provides helpful support and when it begins to replace relationships. The early mood improvements seem encouraging, but fewer family visits make me question whether short-term satisfaction measures the right outcome.</a:t>
            </a:r>
          </a:p>
        </p:txBody>
      </p:sp>
      <p:sp>
        <p:nvSpPr>
          <p:cNvPr id="5" name="">
            <a:extLst xmlns:a="http://schemas.openxmlformats.org/drawingml/2006/main">
              <a:ext uri="{FF2B5EF4-FFF2-40B4-BE49-F238E27FC236}">
                <a16:creationId xmlns:a16="http://schemas.microsoft.com/office/drawing/2014/main" id="{38E15E83-B36E-4ECA-8148-3B7E16F2EC33}"/>
              </a:ext>
            </a:extLst>
          </p:cNvPr>
          <p:cNvSpPr>
            <a:spLocks xmlns:a="http://schemas.openxmlformats.org/drawingml/2006/main" noGrp="1"/>
          </p:cNvSpPr>
          <p:nvPr/>
        </p:nvSpPr>
        <p:spPr>
          <a:xfrm xmlns:a="http://schemas.openxmlformats.org/drawingml/2006/main">
            <a:off x="609600" y="4524375"/>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847"/>
                </a:solidFill>
                <a:latin typeface="Bitstream Charter"/>
                <a:ea typeface="Bitstream Charter"/>
                <a:cs typeface="Bitstream Charter"/>
              </a:defRPr>
            </a:pPr>
            <a:r>
              <a:rPr sz="2325" b="0">
                <a:solidFill>
                  <a:srgbClr val="233847"/>
                </a:solidFill>
                <a:latin typeface="Bitstream Charter"/>
                <a:ea typeface="Bitstream Charter"/>
                <a:cs typeface="Bitstream Charter"/>
              </a:rPr>
              <a:t>I would like to understand how meaningful consent can work for people with cognitive impairment and how a company should respond when users become attached to a device that may eventually stop working.</a:t>
            </a:r>
          </a:p>
        </p:txBody>
      </p:sp>
    </p:spTree>
    <p:extLst>
      <p:ext uri="{BB962C8B-B14F-4D97-AF65-F5344CB8AC3E}">
        <p14:creationId xmlns:p14="http://schemas.microsoft.com/office/powerpoint/2010/main" val="1309671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2026-10-07T21:32:54.5360000Z</dcterms:created>
  <dcterms:modified xsi:type="dcterms:W3CDTF">2026-10-07T21:32:54.5360000Z</dcterms:modified>
</coreProperties>
</file>