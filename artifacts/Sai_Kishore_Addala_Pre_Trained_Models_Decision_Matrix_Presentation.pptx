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sldIdLst>
    <p:sldId id="2767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95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6/8/2026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1" y="3425399"/>
            <a:ext cx="10781325" cy="2621154"/>
          </a:xfrm>
        </p:spPr>
        <p:txBody>
          <a:bodyPr anchor="b">
            <a:normAutofit/>
          </a:bodyPr>
          <a:lstStyle/>
          <a:p>
            <a:r>
              <a:rPr lang="en-US" dirty="0"/>
              <a:t>Pre-Trained Model Trade-Off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 anchor="t">
            <a:normAutofit/>
          </a:bodyPr>
          <a:lstStyle/>
          <a:p>
            <a:r>
              <a:rPr lang="en-US" b="1" dirty="0"/>
              <a:t>Name:</a:t>
            </a:r>
            <a:r>
              <a:rPr lang="en-US" dirty="0"/>
              <a:t> Sai Kishore </a:t>
            </a:r>
            <a:r>
              <a:rPr lang="en-US" dirty="0" err="1"/>
              <a:t>Addala</a:t>
            </a:r>
            <a:br>
              <a:rPr lang="en-US" dirty="0"/>
            </a:br>
            <a:r>
              <a:rPr lang="en-US" b="1" dirty="0"/>
              <a:t>Course:</a:t>
            </a:r>
            <a:r>
              <a:rPr lang="en-US" dirty="0"/>
              <a:t> Artificial Intelligence</a:t>
            </a:r>
            <a:br>
              <a:rPr lang="en-US" dirty="0"/>
            </a:br>
            <a:r>
              <a:rPr lang="en-US" dirty="0"/>
              <a:t>**Artifact 10: Pre-Trained Models Decision Matrix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pPr lvl="0"/>
            <a:fld id="{A2C196D7-201A-4A3A-B9FA-EDBCED2083FF}" type="datetime1">
              <a:rPr lang="en-US" noProof="0" smtClean="0"/>
              <a:t>6/8/2026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 lvl="0"/>
            <a:r>
              <a:rPr lang="en-US" noProof="0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FAD25-FC7B-E5FA-77F9-93CAE819BD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247" y="1544715"/>
            <a:ext cx="5653784" cy="244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707106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Why Model Selection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2756" y="1293905"/>
            <a:ext cx="3647605" cy="4745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Organizations use different AI models depending on their requirements.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When selecting a model, engineers must balance: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Accuracy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Speed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Model Size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Energy Consumption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Hardware Requirements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Explainability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326A-C836-F80E-4EAB-FB475085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5FEDD-97CB-3B55-7C9E-0F71B7F3850B}"/>
              </a:ext>
            </a:extLst>
          </p:cNvPr>
          <p:cNvSpPr txBox="1"/>
          <p:nvPr/>
        </p:nvSpPr>
        <p:spPr>
          <a:xfrm>
            <a:off x="5047359" y="1238406"/>
            <a:ext cx="27561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 Models                                          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Higher Accuracy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Higher Cost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Slower Speed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Small Models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Lower Cost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Faster Speed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Easy Deployment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409A26-6097-B5B6-9A74-60251DB10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810" y="1238407"/>
            <a:ext cx="4801221" cy="480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641" y="134316"/>
            <a:ext cx="7341833" cy="1013738"/>
          </a:xfrm>
        </p:spPr>
        <p:txBody>
          <a:bodyPr>
            <a:normAutofit/>
          </a:bodyPr>
          <a:lstStyle/>
          <a:p>
            <a:r>
              <a:rPr lang="en-US" dirty="0"/>
              <a:t>Selected Pre-Trained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172" y="779551"/>
            <a:ext cx="3510513" cy="3606018"/>
          </a:xfrm>
        </p:spPr>
        <p:txBody>
          <a:bodyPr>
            <a:normAutofit/>
          </a:bodyPr>
          <a:lstStyle/>
          <a:p>
            <a:r>
              <a:rPr lang="en-US" b="1" dirty="0"/>
              <a:t>NLP / Generative AI</a:t>
            </a:r>
          </a:p>
          <a:p>
            <a:r>
              <a:rPr lang="en-US" b="1" dirty="0"/>
              <a:t>BERT</a:t>
            </a:r>
          </a:p>
          <a:p>
            <a:r>
              <a:rPr lang="en-US" dirty="0"/>
              <a:t>Developed by Google </a:t>
            </a:r>
          </a:p>
          <a:p>
            <a:r>
              <a:rPr lang="en-US" dirty="0"/>
              <a:t>110 Million Parameters </a:t>
            </a:r>
          </a:p>
          <a:p>
            <a:r>
              <a:rPr lang="en-US" dirty="0"/>
              <a:t>Excellent for text classification </a:t>
            </a:r>
          </a:p>
          <a:p>
            <a:r>
              <a:rPr lang="en-US" b="1" dirty="0"/>
              <a:t>GPT-4</a:t>
            </a:r>
          </a:p>
          <a:p>
            <a:r>
              <a:rPr lang="en-US" dirty="0"/>
              <a:t>Advanced Generative AI </a:t>
            </a:r>
          </a:p>
          <a:p>
            <a:r>
              <a:rPr lang="en-US" dirty="0"/>
              <a:t>Trillions of parameters (estimated) </a:t>
            </a:r>
          </a:p>
          <a:p>
            <a:r>
              <a:rPr lang="en-US" dirty="0"/>
              <a:t>Excellent language generation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6051-9A8D-AB51-EEFB-7677CCB2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D37E-812B-468F-B489-3911FC6F6723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6235-3D99-C9B4-4037-D7F62E83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FC93-FE33-B17E-E50C-7ED72B6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776876-058F-A98D-5388-3686B950F319}"/>
              </a:ext>
            </a:extLst>
          </p:cNvPr>
          <p:cNvSpPr txBox="1"/>
          <p:nvPr/>
        </p:nvSpPr>
        <p:spPr>
          <a:xfrm>
            <a:off x="3710867" y="1233965"/>
            <a:ext cx="28408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Computer Vision</a:t>
            </a:r>
          </a:p>
          <a:p>
            <a:r>
              <a:rPr lang="en-US" b="1" dirty="0"/>
              <a:t>MobileNetV3</a:t>
            </a:r>
          </a:p>
          <a:p>
            <a:r>
              <a:rPr lang="en-US" dirty="0"/>
              <a:t>Lightweight CNN </a:t>
            </a:r>
          </a:p>
          <a:p>
            <a:r>
              <a:rPr lang="en-US" dirty="0"/>
              <a:t>Designed for mobile devices </a:t>
            </a:r>
          </a:p>
          <a:p>
            <a:r>
              <a:rPr lang="en-US" b="1" dirty="0"/>
              <a:t>EfficientNet-B0</a:t>
            </a:r>
          </a:p>
          <a:p>
            <a:r>
              <a:rPr lang="en-US" dirty="0"/>
              <a:t>Balanced speed and accuracy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32D4A-6C3C-C1E1-0664-D71D41A18113}"/>
              </a:ext>
            </a:extLst>
          </p:cNvPr>
          <p:cNvSpPr txBox="1"/>
          <p:nvPr/>
        </p:nvSpPr>
        <p:spPr>
          <a:xfrm>
            <a:off x="7836463" y="1120676"/>
            <a:ext cx="23487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Tabular Data</a:t>
            </a:r>
          </a:p>
          <a:p>
            <a:r>
              <a:rPr lang="en-US" b="1" dirty="0" err="1"/>
              <a:t>LightGBM</a:t>
            </a:r>
            <a:endParaRPr lang="en-US" b="1" dirty="0"/>
          </a:p>
          <a:p>
            <a:r>
              <a:rPr lang="en-US" dirty="0"/>
              <a:t>Fast gradient boosting </a:t>
            </a:r>
          </a:p>
          <a:p>
            <a:r>
              <a:rPr lang="en-US" b="1" dirty="0" err="1"/>
              <a:t>XGBoost</a:t>
            </a:r>
            <a:endParaRPr lang="en-US" b="1" dirty="0"/>
          </a:p>
          <a:p>
            <a:r>
              <a:rPr lang="en-US" dirty="0"/>
              <a:t>Industry-leading tabular model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03E60E-8ADD-44C8-B4F2-62176851C3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294684"/>
            <a:ext cx="564027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72" y="361027"/>
            <a:ext cx="4596384" cy="295920"/>
          </a:xfrm>
        </p:spPr>
        <p:txBody>
          <a:bodyPr>
            <a:normAutofit fontScale="90000"/>
          </a:bodyPr>
          <a:lstStyle/>
          <a:p>
            <a:r>
              <a:rPr lang="en-US" dirty="0"/>
              <a:t>DECISION MATRIX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9AC419A-9768-50E5-0C9F-709A602D2D3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955" y="1042563"/>
            <a:ext cx="4772677" cy="420624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20E4A-2DA7-367F-889E-11AF801A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6E4F-8270-497D-A4DE-9B37A9C4BC18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0C200-7BBC-B1AA-6E27-4596490E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B782C4-FBCA-5802-D502-D3782B0D4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758930"/>
              </p:ext>
            </p:extLst>
          </p:nvPr>
        </p:nvGraphicFramePr>
        <p:xfrm>
          <a:off x="431172" y="1042564"/>
          <a:ext cx="6990558" cy="4206240"/>
        </p:xfrm>
        <a:graphic>
          <a:graphicData uri="http://schemas.openxmlformats.org/drawingml/2006/table">
            <a:tbl>
              <a:tblPr/>
              <a:tblGrid>
                <a:gridCol w="1165093">
                  <a:extLst>
                    <a:ext uri="{9D8B030D-6E8A-4147-A177-3AD203B41FA5}">
                      <a16:colId xmlns:a16="http://schemas.microsoft.com/office/drawing/2014/main" val="371638441"/>
                    </a:ext>
                  </a:extLst>
                </a:gridCol>
                <a:gridCol w="1165093">
                  <a:extLst>
                    <a:ext uri="{9D8B030D-6E8A-4147-A177-3AD203B41FA5}">
                      <a16:colId xmlns:a16="http://schemas.microsoft.com/office/drawing/2014/main" val="1554666409"/>
                    </a:ext>
                  </a:extLst>
                </a:gridCol>
                <a:gridCol w="1165093">
                  <a:extLst>
                    <a:ext uri="{9D8B030D-6E8A-4147-A177-3AD203B41FA5}">
                      <a16:colId xmlns:a16="http://schemas.microsoft.com/office/drawing/2014/main" val="407176712"/>
                    </a:ext>
                  </a:extLst>
                </a:gridCol>
                <a:gridCol w="1165093">
                  <a:extLst>
                    <a:ext uri="{9D8B030D-6E8A-4147-A177-3AD203B41FA5}">
                      <a16:colId xmlns:a16="http://schemas.microsoft.com/office/drawing/2014/main" val="3078593965"/>
                    </a:ext>
                  </a:extLst>
                </a:gridCol>
                <a:gridCol w="1165093">
                  <a:extLst>
                    <a:ext uri="{9D8B030D-6E8A-4147-A177-3AD203B41FA5}">
                      <a16:colId xmlns:a16="http://schemas.microsoft.com/office/drawing/2014/main" val="1136001071"/>
                    </a:ext>
                  </a:extLst>
                </a:gridCol>
                <a:gridCol w="1165093">
                  <a:extLst>
                    <a:ext uri="{9D8B030D-6E8A-4147-A177-3AD203B41FA5}">
                      <a16:colId xmlns:a16="http://schemas.microsoft.com/office/drawing/2014/main" val="101016378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Explainability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8419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0945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GPT-4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Generative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Very 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37050"/>
                  </a:ext>
                </a:extLst>
              </a:tr>
              <a:tr h="363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MobileNetV3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698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EfficientNet-B0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Small-Medium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0531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LightGBM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Tabular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7015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Tabular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951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7"/>
            <a:ext cx="11217259" cy="742524"/>
          </a:xfrm>
        </p:spPr>
        <p:txBody>
          <a:bodyPr>
            <a:normAutofit/>
          </a:bodyPr>
          <a:lstStyle/>
          <a:p>
            <a:r>
              <a:rPr lang="en-US" sz="4400" dirty="0"/>
              <a:t>ANALYSIS AND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53411-4585-040B-5834-42C4EFE76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136341"/>
            <a:ext cx="4220727" cy="670750"/>
          </a:xfrm>
        </p:spPr>
        <p:txBody>
          <a:bodyPr>
            <a:normAutofit/>
          </a:bodyPr>
          <a:lstStyle/>
          <a:p>
            <a:r>
              <a:rPr lang="en-US" dirty="0"/>
              <a:t>Strengths and Recommendations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A12B-9FEC-9EC2-45A2-67466ADB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A87A6-D6A9-152C-2991-4A8729F77194}"/>
              </a:ext>
            </a:extLst>
          </p:cNvPr>
          <p:cNvSpPr txBox="1"/>
          <p:nvPr/>
        </p:nvSpPr>
        <p:spPr>
          <a:xfrm>
            <a:off x="431172" y="2059619"/>
            <a:ext cx="35460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GPT-4</a:t>
            </a:r>
          </a:p>
          <a:p>
            <a:r>
              <a:rPr lang="en-US" dirty="0"/>
              <a:t>Strengths</a:t>
            </a:r>
          </a:p>
          <a:p>
            <a:r>
              <a:rPr lang="en-US" dirty="0"/>
              <a:t>Best language generation </a:t>
            </a:r>
          </a:p>
          <a:p>
            <a:r>
              <a:rPr lang="en-US" dirty="0"/>
              <a:t>Strong reasoning </a:t>
            </a:r>
          </a:p>
          <a:p>
            <a:r>
              <a:rPr lang="en-US" dirty="0"/>
              <a:t>Weaknesses</a:t>
            </a:r>
          </a:p>
          <a:p>
            <a:r>
              <a:rPr lang="en-US" dirty="0"/>
              <a:t>Expensive </a:t>
            </a:r>
          </a:p>
          <a:p>
            <a:r>
              <a:rPr lang="en-US" dirty="0"/>
              <a:t>Slow inference </a:t>
            </a:r>
          </a:p>
          <a:p>
            <a:r>
              <a:rPr lang="en-US" dirty="0"/>
              <a:t>Low explainability </a:t>
            </a:r>
          </a:p>
          <a:p>
            <a:r>
              <a:rPr lang="en-US" dirty="0"/>
              <a:t>Recommended for:</a:t>
            </a:r>
          </a:p>
          <a:p>
            <a:r>
              <a:rPr lang="en-US" dirty="0"/>
              <a:t>Chatbots </a:t>
            </a:r>
          </a:p>
          <a:p>
            <a:r>
              <a:rPr lang="en-US" dirty="0"/>
              <a:t>Content generation </a:t>
            </a:r>
          </a:p>
          <a:p>
            <a:r>
              <a:rPr lang="en-US" dirty="0"/>
              <a:t>Virtual assistants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4F0D5-A835-E2B5-352F-2B0C232D58B7}"/>
              </a:ext>
            </a:extLst>
          </p:cNvPr>
          <p:cNvSpPr txBox="1"/>
          <p:nvPr/>
        </p:nvSpPr>
        <p:spPr>
          <a:xfrm>
            <a:off x="3435658" y="2121763"/>
            <a:ext cx="25834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BERT</a:t>
            </a:r>
          </a:p>
          <a:p>
            <a:r>
              <a:rPr lang="en-US" dirty="0"/>
              <a:t>Strengths</a:t>
            </a:r>
          </a:p>
          <a:p>
            <a:r>
              <a:rPr lang="en-US" dirty="0"/>
              <a:t>Strong language understanding </a:t>
            </a:r>
          </a:p>
          <a:p>
            <a:r>
              <a:rPr lang="en-US" dirty="0"/>
              <a:t>Lower cost than GPT </a:t>
            </a:r>
          </a:p>
          <a:p>
            <a:r>
              <a:rPr lang="en-US" dirty="0"/>
              <a:t>Recommended for:</a:t>
            </a:r>
          </a:p>
          <a:p>
            <a:r>
              <a:rPr lang="en-US" dirty="0"/>
              <a:t>Classification </a:t>
            </a:r>
          </a:p>
          <a:p>
            <a:r>
              <a:rPr lang="en-US" dirty="0"/>
              <a:t>Sentiment analysis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DCB4F-AE55-E3FB-7E9B-31AB1529F5D5}"/>
              </a:ext>
            </a:extLst>
          </p:cNvPr>
          <p:cNvSpPr txBox="1"/>
          <p:nvPr/>
        </p:nvSpPr>
        <p:spPr>
          <a:xfrm>
            <a:off x="5908089" y="2121763"/>
            <a:ext cx="258340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MobileNetV3</a:t>
            </a:r>
          </a:p>
          <a:p>
            <a:r>
              <a:rPr lang="en-US" dirty="0"/>
              <a:t>Strengths</a:t>
            </a:r>
          </a:p>
          <a:p>
            <a:r>
              <a:rPr lang="en-US" dirty="0"/>
              <a:t>Very fast </a:t>
            </a:r>
          </a:p>
          <a:p>
            <a:r>
              <a:rPr lang="en-US" dirty="0"/>
              <a:t>Small size </a:t>
            </a:r>
          </a:p>
          <a:p>
            <a:r>
              <a:rPr lang="en-US" dirty="0"/>
              <a:t>Recommended for:</a:t>
            </a:r>
          </a:p>
          <a:p>
            <a:r>
              <a:rPr lang="en-US" dirty="0"/>
              <a:t>Smartphones </a:t>
            </a:r>
          </a:p>
          <a:p>
            <a:r>
              <a:rPr lang="en-US" dirty="0"/>
              <a:t>Edge AI</a:t>
            </a:r>
          </a:p>
          <a:p>
            <a:endParaRPr lang="en-US" dirty="0"/>
          </a:p>
          <a:p>
            <a:r>
              <a:rPr lang="en-US" b="1" dirty="0"/>
              <a:t>EfficientNet-B0</a:t>
            </a:r>
          </a:p>
          <a:p>
            <a:r>
              <a:rPr lang="en-US" dirty="0"/>
              <a:t>Strengths</a:t>
            </a:r>
          </a:p>
          <a:p>
            <a:r>
              <a:rPr lang="en-US" dirty="0"/>
              <a:t>Balanced performance </a:t>
            </a:r>
          </a:p>
          <a:p>
            <a:r>
              <a:rPr lang="en-US" dirty="0"/>
              <a:t>Recommended for: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ED5318-AA04-3385-FD9E-6D41745F327F}"/>
              </a:ext>
            </a:extLst>
          </p:cNvPr>
          <p:cNvSpPr txBox="1"/>
          <p:nvPr/>
        </p:nvSpPr>
        <p:spPr>
          <a:xfrm>
            <a:off x="8123068" y="2059619"/>
            <a:ext cx="333136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LightGBM</a:t>
            </a:r>
            <a:r>
              <a:rPr lang="en-US" b="1" dirty="0"/>
              <a:t> and </a:t>
            </a:r>
            <a:r>
              <a:rPr lang="en-US" b="1" dirty="0" err="1"/>
              <a:t>XGBoost</a:t>
            </a:r>
            <a:endParaRPr lang="en-US" b="1" dirty="0"/>
          </a:p>
          <a:p>
            <a:r>
              <a:rPr lang="en-US" dirty="0"/>
              <a:t>Strengths</a:t>
            </a:r>
          </a:p>
          <a:p>
            <a:r>
              <a:rPr lang="en-US" dirty="0"/>
              <a:t>Excellent for structured data </a:t>
            </a:r>
          </a:p>
          <a:p>
            <a:r>
              <a:rPr lang="en-US" dirty="0"/>
              <a:t>High interpretability </a:t>
            </a:r>
          </a:p>
          <a:p>
            <a:r>
              <a:rPr lang="en-US" dirty="0"/>
              <a:t>Recommended for:</a:t>
            </a:r>
          </a:p>
          <a:p>
            <a:r>
              <a:rPr lang="en-US" dirty="0"/>
              <a:t>Finance </a:t>
            </a:r>
          </a:p>
          <a:p>
            <a:r>
              <a:rPr lang="en-US" dirty="0"/>
              <a:t>Healthcare </a:t>
            </a:r>
          </a:p>
          <a:p>
            <a:r>
              <a:rPr lang="en-US" dirty="0"/>
              <a:t>Fraud detection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A4FCD2-FE21-E0CB-7ECB-97D7D8324E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954" y="4350058"/>
            <a:ext cx="4242046" cy="239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19988"/>
            <a:ext cx="6035040" cy="1143000"/>
          </a:xfrm>
        </p:spPr>
        <p:txBody>
          <a:bodyPr>
            <a:normAutofit fontScale="90000"/>
          </a:bodyPr>
          <a:lstStyle/>
          <a:p>
            <a:r>
              <a:rPr lang="en-US" sz="1800" b="1" dirty="0"/>
              <a:t>Key Findings</a:t>
            </a:r>
            <a:br>
              <a:rPr lang="en-US" sz="1800" b="1" dirty="0"/>
            </a:br>
            <a:r>
              <a:rPr lang="en-US" sz="1800" dirty="0"/>
              <a:t>✔ No single model is best for every task.</a:t>
            </a:r>
            <a:br>
              <a:rPr lang="en-US" sz="1800" dirty="0"/>
            </a:br>
            <a:r>
              <a:rPr lang="en-US" sz="1800" dirty="0"/>
              <a:t>✔ Larger models provide better accuracy but require more resources.</a:t>
            </a:r>
            <a:br>
              <a:rPr lang="en-US" sz="1800" dirty="0"/>
            </a:br>
            <a:r>
              <a:rPr lang="en-US" sz="1800" dirty="0"/>
              <a:t>✔ Smaller models offer faster deployment and lower cost.</a:t>
            </a:r>
            <a:br>
              <a:rPr lang="en-US" sz="1800" dirty="0"/>
            </a:br>
            <a:r>
              <a:rPr lang="en-US" sz="1800" dirty="0"/>
              <a:t>✔ Explainability remains critical in regulated industries.</a:t>
            </a:r>
            <a:br>
              <a:rPr lang="en-US" sz="1800" dirty="0"/>
            </a:br>
            <a:r>
              <a:rPr lang="en-US" sz="1800" dirty="0"/>
              <a:t>✔ Model selection should balance performance, cost, speed, and transparency.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7982A256-823B-50B2-0B17-C97F65F7FBF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504969040"/>
              </p:ext>
            </p:extLst>
          </p:nvPr>
        </p:nvGraphicFramePr>
        <p:xfrm>
          <a:off x="60325" y="2938509"/>
          <a:ext cx="4476164" cy="3266984"/>
        </p:xfrm>
        <a:graphic>
          <a:graphicData uri="http://schemas.openxmlformats.org/drawingml/2006/table">
            <a:tbl>
              <a:tblPr/>
              <a:tblGrid>
                <a:gridCol w="2238082">
                  <a:extLst>
                    <a:ext uri="{9D8B030D-6E8A-4147-A177-3AD203B41FA5}">
                      <a16:colId xmlns:a16="http://schemas.microsoft.com/office/drawing/2014/main" val="6502017"/>
                    </a:ext>
                  </a:extLst>
                </a:gridCol>
                <a:gridCol w="2238082">
                  <a:extLst>
                    <a:ext uri="{9D8B030D-6E8A-4147-A177-3AD203B41FA5}">
                      <a16:colId xmlns:a16="http://schemas.microsoft.com/office/drawing/2014/main" val="4040462307"/>
                    </a:ext>
                  </a:extLst>
                </a:gridCol>
              </a:tblGrid>
              <a:tr h="46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Task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Recommended Model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348884"/>
                  </a:ext>
                </a:extLst>
              </a:tr>
              <a:tr h="46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Chatbot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GPT-4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143454"/>
                  </a:ext>
                </a:extLst>
              </a:tr>
              <a:tr h="46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 Classification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BERT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57123"/>
                  </a:ext>
                </a:extLst>
              </a:tr>
              <a:tr h="46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Mobile Vision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MobileNetV3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256242"/>
                  </a:ext>
                </a:extLst>
              </a:tr>
              <a:tr h="46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Image Classification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EfficientNet-B0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44133"/>
                  </a:ext>
                </a:extLst>
              </a:tr>
              <a:tr h="46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Structured Data Analytics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LightGBM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890970"/>
                  </a:ext>
                </a:extLst>
              </a:tr>
              <a:tr h="46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Business Prediction Models</a:t>
                      </a:r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XGBoost</a:t>
                      </a:r>
                      <a:endParaRPr lang="en-US" sz="1000" dirty="0"/>
                    </a:p>
                  </a:txBody>
                  <a:tcPr marL="51804" marR="51804" marT="25902" marB="25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65645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8E80-2392-A58F-EEB2-EE633788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76D00-6106-43BB-8923-18C7A7C520E4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AA2F1-CC44-35CF-7A34-1B814A19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A43E08-20BC-6C19-5CAB-F0F34877AAE6}"/>
              </a:ext>
            </a:extLst>
          </p:cNvPr>
          <p:cNvSpPr txBox="1"/>
          <p:nvPr/>
        </p:nvSpPr>
        <p:spPr>
          <a:xfrm>
            <a:off x="431172" y="156895"/>
            <a:ext cx="1806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CONCLUSION</a:t>
            </a:r>
          </a:p>
          <a:p>
            <a:pPr>
              <a:buNone/>
            </a:pPr>
            <a:endParaRPr lang="en-US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FDB5B-5681-2B9D-7BDB-4175EB084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1" y="0"/>
            <a:ext cx="615696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{4B155F9F-0129-45F1-B1CC-4FCBC98798D9}05f950ec-c865-457c-93ae-9eb2ef1c603f-TFa19fa653-f273-4169-96ef-448bb1cd1027_win32</Template>
  <TotalTime>90</TotalTime>
  <Words>387</Words>
  <Application>Microsoft Office PowerPoint</Application>
  <PresentationFormat>Widescreen</PresentationFormat>
  <Paragraphs>168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Neue Haas Grotesk Text Pro</vt:lpstr>
      <vt:lpstr>Wingdings</vt:lpstr>
      <vt:lpstr>OasisVTI</vt:lpstr>
      <vt:lpstr>Pre-Trained Model Trade-Off Analysis</vt:lpstr>
      <vt:lpstr>Why Model Selection Matters</vt:lpstr>
      <vt:lpstr>Selected Pre-Trained Models</vt:lpstr>
      <vt:lpstr>DECISION MATRIX</vt:lpstr>
      <vt:lpstr>ANALYSIS AND RECOMMENDATIONS</vt:lpstr>
      <vt:lpstr>Key Findings ✔ No single model is best for every task. ✔ Larger models provide better accuracy but require more resources. ✔ Smaller models offer faster deployment and lower cost. ✔ Explainability remains critical in regulated industries. ✔ Model selection should balance performance, cost, speed, and transparency.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G</dc:creator>
  <cp:lastModifiedBy>J G</cp:lastModifiedBy>
  <cp:revision>1</cp:revision>
  <dcterms:created xsi:type="dcterms:W3CDTF">2026-06-09T02:57:30Z</dcterms:created>
  <dcterms:modified xsi:type="dcterms:W3CDTF">2026-06-09T04:27:30Z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