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ce26cf595b4e9f" /><Relationship Type="http://schemas.openxmlformats.org/officeDocument/2006/relationships/extended-properties" Target="/docProps/app.xml" Id="R37563d316a064ead" /><Relationship Type="http://schemas.openxmlformats.org/officeDocument/2006/relationships/officeDocument" Target="/ppt/presentation.xml" Id="Rfcdc19694f0f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590d09de914e98"/>
  </p:sldMasterIdLst>
  <p:notesMasterIdLst>
    <p:notesMasterId xmlns:r="http://schemas.openxmlformats.org/officeDocument/2006/relationships" r:id="R2dea5b8fda5343ee"/>
  </p:notesMasterIdLst>
  <p:sldIdLst>
    <p:sldId xmlns:r="http://schemas.openxmlformats.org/officeDocument/2006/relationships" id="256" r:id="R8a52fa5e09d84618"/>
    <p:sldId xmlns:r="http://schemas.openxmlformats.org/officeDocument/2006/relationships" id="257" r:id="R4ea9d15c736240a8"/>
    <p:sldId xmlns:r="http://schemas.openxmlformats.org/officeDocument/2006/relationships" id="258" r:id="R40a835b9dd13490f"/>
    <p:sldId xmlns:r="http://schemas.openxmlformats.org/officeDocument/2006/relationships" id="259" r:id="Rb15248bfa8ca4ab1"/>
    <p:sldId xmlns:r="http://schemas.openxmlformats.org/officeDocument/2006/relationships" id="260" r:id="R7e8b707aa2094976"/>
    <p:sldId xmlns:r="http://schemas.openxmlformats.org/officeDocument/2006/relationships" id="261" r:id="R01dd81224c9e4625"/>
    <p:sldId xmlns:r="http://schemas.openxmlformats.org/officeDocument/2006/relationships" id="262" r:id="Re65e08c047ea4ddc"/>
    <p:sldId xmlns:r="http://schemas.openxmlformats.org/officeDocument/2006/relationships" id="263" r:id="R7ab34a23d1364bbb"/>
    <p:sldId xmlns:r="http://schemas.openxmlformats.org/officeDocument/2006/relationships" id="264" r:id="Ra9e2189d5f25480f"/>
    <p:sldId xmlns:r="http://schemas.openxmlformats.org/officeDocument/2006/relationships" id="265" r:id="R17c349cd86a14051"/>
    <p:sldId xmlns:r="http://schemas.openxmlformats.org/officeDocument/2006/relationships" id="266" r:id="Re26fe33d0a7d4083"/>
    <p:sldId xmlns:r="http://schemas.openxmlformats.org/officeDocument/2006/relationships" id="267" r:id="R51618c5274ee4c54"/>
    <p:sldId xmlns:r="http://schemas.openxmlformats.org/officeDocument/2006/relationships" id="268" r:id="R713f8650bcb24981"/>
    <p:sldId xmlns:r="http://schemas.openxmlformats.org/officeDocument/2006/relationships" id="269" r:id="Reae1d30769e64611"/>
    <p:sldId xmlns:r="http://schemas.openxmlformats.org/officeDocument/2006/relationships" id="270" r:id="R0e1e4547aa4a4933"/>
    <p:sldId xmlns:r="http://schemas.openxmlformats.org/officeDocument/2006/relationships" id="271" r:id="R4e713405ec574bee"/>
    <p:sldId xmlns:r="http://schemas.openxmlformats.org/officeDocument/2006/relationships" id="272" r:id="Rd695c125b7f64459"/>
    <p:sldId xmlns:r="http://schemas.openxmlformats.org/officeDocument/2006/relationships" id="273" r:id="R7a95c0f0fea042e6"/>
    <p:sldId xmlns:r="http://schemas.openxmlformats.org/officeDocument/2006/relationships" id="274" r:id="R75d46c2d70e14c83"/>
    <p:sldId xmlns:r="http://schemas.openxmlformats.org/officeDocument/2006/relationships" id="275" r:id="Rfe6a251150f34acf"/>
    <p:sldId xmlns:r="http://schemas.openxmlformats.org/officeDocument/2006/relationships" id="276" r:id="Raa3d77de96e94c6d"/>
    <p:sldId xmlns:r="http://schemas.openxmlformats.org/officeDocument/2006/relationships" id="277" r:id="R3e3005eae1294811"/>
    <p:sldId xmlns:r="http://schemas.openxmlformats.org/officeDocument/2006/relationships" id="278" r:id="R3b562e5208674c0d"/>
    <p:sldId xmlns:r="http://schemas.openxmlformats.org/officeDocument/2006/relationships" id="279" r:id="R7dda339eb2ea4d1c"/>
    <p:sldId xmlns:r="http://schemas.openxmlformats.org/officeDocument/2006/relationships" id="280" r:id="R7428415c59e64b44"/>
    <p:sldId xmlns:r="http://schemas.openxmlformats.org/officeDocument/2006/relationships" id="281" r:id="Rf535c3ca63f04300"/>
    <p:sldId xmlns:r="http://schemas.openxmlformats.org/officeDocument/2006/relationships" id="282" r:id="R16152e0c6e244184"/>
    <p:sldId xmlns:r="http://schemas.openxmlformats.org/officeDocument/2006/relationships" id="283" r:id="Rb58319bab77a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fdd9b948114550" /><Relationship Type="http://schemas.openxmlformats.org/officeDocument/2006/relationships/slideMaster" Target="/ppt/slideMasters/slideMaster1.xml" Id="Rd6590d09de914e98" /><Relationship Type="http://schemas.openxmlformats.org/officeDocument/2006/relationships/notesMaster" Target="/ppt/notesMasters/notesMaster1.xml" Id="R2dea5b8fda5343ee" /><Relationship Type="http://schemas.openxmlformats.org/officeDocument/2006/relationships/presProps" Target="/ppt/presProps.xml" Id="R1cdaa65cf9f941af" /><Relationship Type="http://schemas.openxmlformats.org/officeDocument/2006/relationships/tableStyles" Target="/ppt/tableStyles.xml" Id="Rcf626aa01c5143de" /><Relationship Type="http://schemas.openxmlformats.org/officeDocument/2006/relationships/slide" Target="/ppt/slides/slide1.xml" Id="R8a52fa5e09d84618" /><Relationship Type="http://schemas.openxmlformats.org/officeDocument/2006/relationships/slide" Target="/ppt/slides/slide2.xml" Id="R4ea9d15c736240a8" /><Relationship Type="http://schemas.openxmlformats.org/officeDocument/2006/relationships/slide" Target="/ppt/slides/slide3.xml" Id="R40a835b9dd13490f" /><Relationship Type="http://schemas.openxmlformats.org/officeDocument/2006/relationships/slide" Target="/ppt/slides/slide4.xml" Id="Rb15248bfa8ca4ab1" /><Relationship Type="http://schemas.openxmlformats.org/officeDocument/2006/relationships/slide" Target="/ppt/slides/slide5.xml" Id="R7e8b707aa2094976" /><Relationship Type="http://schemas.openxmlformats.org/officeDocument/2006/relationships/slide" Target="/ppt/slides/slide6.xml" Id="R01dd81224c9e4625" /><Relationship Type="http://schemas.openxmlformats.org/officeDocument/2006/relationships/slide" Target="/ppt/slides/slide7.xml" Id="Re65e08c047ea4ddc" /><Relationship Type="http://schemas.openxmlformats.org/officeDocument/2006/relationships/slide" Target="/ppt/slides/slide8.xml" Id="R7ab34a23d1364bbb" /><Relationship Type="http://schemas.openxmlformats.org/officeDocument/2006/relationships/slide" Target="/ppt/slides/slide9.xml" Id="Ra9e2189d5f25480f" /><Relationship Type="http://schemas.openxmlformats.org/officeDocument/2006/relationships/slide" Target="/ppt/slides/slide10.xml" Id="R17c349cd86a14051" /><Relationship Type="http://schemas.openxmlformats.org/officeDocument/2006/relationships/slide" Target="/ppt/slides/slide11.xml" Id="Re26fe33d0a7d4083" /><Relationship Type="http://schemas.openxmlformats.org/officeDocument/2006/relationships/slide" Target="/ppt/slides/slide12.xml" Id="R51618c5274ee4c54" /><Relationship Type="http://schemas.openxmlformats.org/officeDocument/2006/relationships/slide" Target="/ppt/slides/slide13.xml" Id="R713f8650bcb24981" /><Relationship Type="http://schemas.openxmlformats.org/officeDocument/2006/relationships/slide" Target="/ppt/slides/slide14.xml" Id="Reae1d30769e64611" /><Relationship Type="http://schemas.openxmlformats.org/officeDocument/2006/relationships/slide" Target="/ppt/slides/slide15.xml" Id="R0e1e4547aa4a4933" /><Relationship Type="http://schemas.openxmlformats.org/officeDocument/2006/relationships/slide" Target="/ppt/slides/slide16.xml" Id="R4e713405ec574bee" /><Relationship Type="http://schemas.openxmlformats.org/officeDocument/2006/relationships/slide" Target="/ppt/slides/slide17.xml" Id="Rd695c125b7f64459" /><Relationship Type="http://schemas.openxmlformats.org/officeDocument/2006/relationships/slide" Target="/ppt/slides/slide18.xml" Id="R7a95c0f0fea042e6" /><Relationship Type="http://schemas.openxmlformats.org/officeDocument/2006/relationships/slide" Target="/ppt/slides/slide19.xml" Id="R75d46c2d70e14c83" /><Relationship Type="http://schemas.openxmlformats.org/officeDocument/2006/relationships/slide" Target="/ppt/slides/slide20.xml" Id="Rfe6a251150f34acf" /><Relationship Type="http://schemas.openxmlformats.org/officeDocument/2006/relationships/slide" Target="/ppt/slides/slide21.xml" Id="Raa3d77de96e94c6d" /><Relationship Type="http://schemas.openxmlformats.org/officeDocument/2006/relationships/slide" Target="/ppt/slides/slide22.xml" Id="R3e3005eae1294811" /><Relationship Type="http://schemas.openxmlformats.org/officeDocument/2006/relationships/slide" Target="/ppt/slides/slide23.xml" Id="R3b562e5208674c0d" /><Relationship Type="http://schemas.openxmlformats.org/officeDocument/2006/relationships/slide" Target="/ppt/slides/slide24.xml" Id="R7dda339eb2ea4d1c" /><Relationship Type="http://schemas.openxmlformats.org/officeDocument/2006/relationships/slide" Target="/ppt/slides/slide25.xml" Id="R7428415c59e64b44" /><Relationship Type="http://schemas.openxmlformats.org/officeDocument/2006/relationships/slide" Target="/ppt/slides/slide26.xml" Id="Rf535c3ca63f04300" /><Relationship Type="http://schemas.openxmlformats.org/officeDocument/2006/relationships/slide" Target="/ppt/slides/slide27.xml" Id="R16152e0c6e244184" /><Relationship Type="http://schemas.openxmlformats.org/officeDocument/2006/relationships/slide" Target="/ppt/slides/slide28.xml" Id="Rb58319bab77a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a54367f26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80d8ae1e94f40" /><Relationship Type="http://schemas.openxmlformats.org/officeDocument/2006/relationships/notesMaster" Target="/ppt/notesMasters/notesMaster1.xml" Id="R9ee05c5e266f47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11d4cc70ee44f3" /><Relationship Type="http://schemas.openxmlformats.org/officeDocument/2006/relationships/notesMaster" Target="/ppt/notesMasters/notesMaster1.xml" Id="Rbca93dfac54341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2136059de4485" /><Relationship Type="http://schemas.openxmlformats.org/officeDocument/2006/relationships/notesMaster" Target="/ppt/notesMasters/notesMaster1.xml" Id="R31216485806549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9737d6f2d46a6" /><Relationship Type="http://schemas.openxmlformats.org/officeDocument/2006/relationships/notesMaster" Target="/ppt/notesMasters/notesMaster1.xml" Id="Rc9291ee1933b40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b151c89404467" /><Relationship Type="http://schemas.openxmlformats.org/officeDocument/2006/relationships/notesMaster" Target="/ppt/notesMasters/notesMaster1.xml" Id="R9a8824c63961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e4ff38a8540f5" /><Relationship Type="http://schemas.openxmlformats.org/officeDocument/2006/relationships/notesMaster" Target="/ppt/notesMasters/notesMaster1.xml" Id="Rcbd3740ca92547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74044548b64f87" /><Relationship Type="http://schemas.openxmlformats.org/officeDocument/2006/relationships/notesMaster" Target="/ppt/notesMasters/notesMaster1.xml" Id="R5f0befde3d3d4d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e5f60e3694cb1" /><Relationship Type="http://schemas.openxmlformats.org/officeDocument/2006/relationships/notesMaster" Target="/ppt/notesMasters/notesMaster1.xml" Id="Rb5f32ca273ba49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2a87c34544e23" /><Relationship Type="http://schemas.openxmlformats.org/officeDocument/2006/relationships/notesMaster" Target="/ppt/notesMasters/notesMaster1.xml" Id="R834b4157a76144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8a176a0a524509" /><Relationship Type="http://schemas.openxmlformats.org/officeDocument/2006/relationships/notesMaster" Target="/ppt/notesMasters/notesMaster1.xml" Id="R4a50c76ebcfc4e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035fd585cc4281" /><Relationship Type="http://schemas.openxmlformats.org/officeDocument/2006/relationships/notesMaster" Target="/ppt/notesMasters/notesMaster1.xml" Id="Rd73a4b47a16f46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bbf498d05847c7" /><Relationship Type="http://schemas.openxmlformats.org/officeDocument/2006/relationships/notesMaster" Target="/ppt/notesMasters/notesMaster1.xml" Id="Ra34718a27f9d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38c0066c284c54" /><Relationship Type="http://schemas.openxmlformats.org/officeDocument/2006/relationships/notesMaster" Target="/ppt/notesMasters/notesMaster1.xml" Id="R1c2d5bbf532941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940683a21b41ac" /><Relationship Type="http://schemas.openxmlformats.org/officeDocument/2006/relationships/notesMaster" Target="/ppt/notesMasters/notesMaster1.xml" Id="Rbfa26697e89c42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74dd05f1b64d79" /><Relationship Type="http://schemas.openxmlformats.org/officeDocument/2006/relationships/notesMaster" Target="/ppt/notesMasters/notesMaster1.xml" Id="Rf851667831e24f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06de3d0c754971" /><Relationship Type="http://schemas.openxmlformats.org/officeDocument/2006/relationships/notesMaster" Target="/ppt/notesMasters/notesMaster1.xml" Id="Re6623cb7386f45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67092d32df4072" /><Relationship Type="http://schemas.openxmlformats.org/officeDocument/2006/relationships/notesMaster" Target="/ppt/notesMasters/notesMaster1.xml" Id="R0fff964dfd9542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b0a6576f0c4282" /><Relationship Type="http://schemas.openxmlformats.org/officeDocument/2006/relationships/notesMaster" Target="/ppt/notesMasters/notesMaster1.xml" Id="Rd33544e8e8b247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0fc8a79d914c78" /><Relationship Type="http://schemas.openxmlformats.org/officeDocument/2006/relationships/notesMaster" Target="/ppt/notesMasters/notesMaster1.xml" Id="R305646ce8cb342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6c54e8364e4e2b" /><Relationship Type="http://schemas.openxmlformats.org/officeDocument/2006/relationships/notesMaster" Target="/ppt/notesMasters/notesMaster1.xml" Id="R1b4b0120231b4b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7d34aa52b94b9e" /><Relationship Type="http://schemas.openxmlformats.org/officeDocument/2006/relationships/notesMaster" Target="/ppt/notesMasters/notesMaster1.xml" Id="R068bdb7e26b447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c50b5814fe45db" /><Relationship Type="http://schemas.openxmlformats.org/officeDocument/2006/relationships/notesMaster" Target="/ppt/notesMasters/notesMaster1.xml" Id="R7c9629edaab14c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8b2a0bf3a84dc5" /><Relationship Type="http://schemas.openxmlformats.org/officeDocument/2006/relationships/notesMaster" Target="/ppt/notesMasters/notesMaster1.xml" Id="R7fcbc4094cc241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a5f35a030a4c76" /><Relationship Type="http://schemas.openxmlformats.org/officeDocument/2006/relationships/notesMaster" Target="/ppt/notesMasters/notesMaster1.xml" Id="R49939bef6e714d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95fecca6314dab" /><Relationship Type="http://schemas.openxmlformats.org/officeDocument/2006/relationships/notesMaster" Target="/ppt/notesMasters/notesMaster1.xml" Id="R883ec1352d7b420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2853a0dbe141f8" /><Relationship Type="http://schemas.openxmlformats.org/officeDocument/2006/relationships/notesMaster" Target="/ppt/notesMasters/notesMaster1.xml" Id="R206b34c6833b4b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221951dc1ec4828" /><Relationship Type="http://schemas.openxmlformats.org/officeDocument/2006/relationships/notesMaster" Target="/ppt/notesMasters/notesMaster1.xml" Id="Rb97aa6ae39e443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7542c831e54741" /><Relationship Type="http://schemas.openxmlformats.org/officeDocument/2006/relationships/notesMaster" Target="/ppt/notesMasters/notesMaster1.xml" Id="Rf16d95ae3e6c4f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integrated framework for the fictional company established in Assignment 1.3. This is a proposed organizational operating model. Thresholds and schedules are policy proposals, not measured bank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  <a:p xmlns:a="http://schemas.openxmlformats.org/drawingml/2006/main">
            <a:r>
              <a:t>https://www.usccb.org/beliefs-and-teachings/what-we-believe/catholic-social-teaching/the-dignity-of-work-and-the-rights-of-workers</a:t>
            </a:r>
          </a:p>
          <a:p xmlns:a="http://schemas.openxmlformats.org/drawingml/2006/main">
            <a:r>
              <a:t>https://www.scu.edu/ethics/focus-areas/technology-ethics/resources/an-introduction-to-data-ethics/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  <a:p xmlns:a="http://schemas.openxmlformats.org/drawingml/2006/main">
            <a:r>
              <a:t>https://www.scu.edu/ethics/focus-areas/technology-ethics/resources/an-introduction-to-data-ethics/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  <a:p xmlns:a="http://schemas.openxmlformats.org/drawingml/2006/main">
            <a:r>
              <a:t>https://doi.org/10.1145/3287560.3287596</a:t>
            </a:r>
          </a:p>
          <a:p xmlns:a="http://schemas.openxmlformats.org/drawingml/2006/main">
            <a:r>
              <a:t>https://doi.org/10.1145/3458723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https://doi.org/10.6028/NIST.IR.8312</a:t>
            </a:r>
          </a:p>
          <a:p xmlns:a="http://schemas.openxmlformats.org/drawingml/2006/main">
            <a:r>
              <a:t>https://www.consumerfinance.gov/rules-policy/regulations/1002/9/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https://doi.org/10.6028/NIST.SP.1270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https://doi.org/10.6028/NIST.CSWP.01162020</a:t>
            </a:r>
          </a:p>
          <a:p xmlns:a="http://schemas.openxmlformats.org/drawingml/2006/main">
            <a:r>
              <a:t>https://doi.org/10.6028/NIST.CSWP.29</a:t>
            </a:r>
          </a:p>
          <a:p xmlns:a="http://schemas.openxmlformats.org/drawingml/2006/main">
            <a:r>
              <a:t>https://www.consumerfinance.gov/rules-policy/regulations/1002/9/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https://www.copyright.gov/ai/Copyright-and-Artificial-Intelligence-Part-2-Copyrightability-Report.pdf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https://www.scu.edu/ethics/focus-areas/technology-ethics/resources/an-introduction-to-data-ethics/</a:t>
            </a:r>
          </a:p>
          <a:p xmlns:a="http://schemas.openxmlformats.org/drawingml/2006/main">
            <a:r>
              <a:t>https://doi.org/10.6028/NIST.IR.8312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https://www.scu.edu/ethics/focus-areas/technology-ethics/resources/an-introduction-to-data-ethics/</a:t>
            </a:r>
          </a:p>
          <a:p xmlns:a="http://schemas.openxmlformats.org/drawingml/2006/main">
            <a:r>
              <a:t>https://doi.org/10.6028/NIST.AI.600-1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  <a:p xmlns:a="http://schemas.openxmlformats.org/drawingml/2006/main">
            <a:r>
              <a:t>https://doi.org/10.6028/NIST.SP.1270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https://www.usccb.org/beliefs-and-teachings/what-we-believe/catholic-social-teaching/the-dignity-of-work-and-the-rights-of-workers</a:t>
            </a:r>
          </a:p>
          <a:p xmlns:a="http://schemas.openxmlformats.org/drawingml/2006/main">
            <a:r>
              <a:t>https://www.scu.edu/ethics/focus-areas/technology-ethics/resources/an-introduction-to-data-ethics/</a:t>
            </a:r>
          </a:p>
          <a:p xmlns:a="http://schemas.openxmlformats.org/drawingml/2006/main">
            <a:r>
              <a:t>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https://doi.org/10.6028/NIST.AI.100-1</a:t>
            </a:r>
          </a:p>
          <a:p xmlns:a="http://schemas.openxmlformats.org/drawingml/2006/main">
            <a:r>
              <a:t>https://doi.org/10.1145/3287560.3287596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Priority order for future application: foundational governance and mandatory requirements first, then documentation and people-centered practice. References use APA author-date formatting. https://doi.org/10.6028/NIST.AI.100-1</a:t>
            </a:r>
          </a:p>
          <a:p xmlns:a="http://schemas.openxmlformats.org/drawingml/2006/main">
            <a:r>
              <a:t>https://doi.org/10.6028/NIST.SP.1270</a:t>
            </a:r>
          </a:p>
          <a:p xmlns:a="http://schemas.openxmlformats.org/drawingml/2006/main">
            <a:r>
              <a:t>https://doi.org/10.6028/NIST.CSWP.01162020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Priority order for future application: foundational governance and mandatory requirements first, then documentation and people-centered practice. References use APA author-date formatting. https://doi.org/10.6028/NIST.CSWP.29</a:t>
            </a:r>
          </a:p>
          <a:p xmlns:a="http://schemas.openxmlformats.org/drawingml/2006/main">
            <a:r>
              <a:t>https://www.consumerfinance.gov/rules-policy/regulations/1002/9/</a:t>
            </a:r>
          </a:p>
          <a:p xmlns:a="http://schemas.openxmlformats.org/drawingml/2006/main">
            <a:r>
              <a:t>https://doi.org/10.6028/NIST.IR.8312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Priority order for future application: foundational governance and mandatory requirements first, then documentation and people-centered practice. References use APA author-date formatting. https://doi.org/10.6028/NIST.AI.600-1</a:t>
            </a:r>
          </a:p>
          <a:p xmlns:a="http://schemas.openxmlformats.org/drawingml/2006/main">
            <a:r>
              <a:t>https://doi.org/10.1145/3287560.3287596</a:t>
            </a:r>
          </a:p>
          <a:p xmlns:a="http://schemas.openxmlformats.org/drawingml/2006/main">
            <a:r>
              <a:t>https://doi.org/10.1145/3458723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Priority order for future application: foundational governance and mandatory requirements first, then documentation and people-centered practice. References use APA author-date formatting. https://www.scu.edu/ethics/focus-areas/technology-ethics/resources/an-introduction-to-data-ethics/</a:t>
            </a:r>
          </a:p>
          <a:p xmlns:a="http://schemas.openxmlformats.org/drawingml/2006/main">
            <a:r>
              <a:t>https://www.usccb.org/beliefs-and-teachings/what-we-believe/catholic-social-teaching/the-dignity-of-work-and-the-rights-of-workers</a:t>
            </a:r>
          </a:p>
          <a:p xmlns:a="http://schemas.openxmlformats.org/drawingml/2006/main">
            <a:r>
              <a:t>https://www.copyright.gov/ai/Copyright-and-Artificial-Intelligence-Part-2-Copyrightability-Report.pdf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fe8abe7514b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6e1b5e5174a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c679c424f4b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7d454d1e644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e9edd2411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11d2bcd63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45D1682-6835-4E45-A51D-073F477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2495E2-59E5-45BC-9A9D-9CCBF6EF9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3F9D574-E801-4361-B8FB-CC78125490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D90B1E-729B-40B4-B7E0-5565217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F7FC39-56BC-4DDD-A5EB-6EC3AFDF4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C98405-68AF-4EB9-9836-BB9CA79B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DE54D0-21FE-439A-9E5E-E23DA655BE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1060AF7-A138-4FAD-B710-F975A627D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5B5C5F2-B52F-451D-A43C-B0C972EC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D9FBBE-1E77-44A7-91EE-A37D891F3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9AEEBE-E4E5-46D5-9220-525BA3962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D6FCA8-F9D5-49A4-BDB9-29F0B0847D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302273-97A1-41A8-81F8-6A6130C2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347D4F-955D-4EE3-9F12-C73737A6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6ACDE8-29C2-4BF9-9EC7-E94EEE3E5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821561ae740c5" /><Relationship Type="http://schemas.openxmlformats.org/officeDocument/2006/relationships/slideLayout" Target="/ppt/slideLayouts/slideLayout1.xml" Id="R7c57ea84024c4754" /><Relationship Type="http://schemas.openxmlformats.org/officeDocument/2006/relationships/slideLayout" Target="/ppt/slideLayouts/slideLayout2.xml" Id="R0adc38f5965848cc" /><Relationship Type="http://schemas.openxmlformats.org/officeDocument/2006/relationships/slideLayout" Target="/ppt/slideLayouts/slideLayout3.xml" Id="R190ad3980476428a" /><Relationship Type="http://schemas.openxmlformats.org/officeDocument/2006/relationships/slideLayout" Target="/ppt/slideLayouts/slideLayout4.xml" Id="R821ad109fef941f6" /><Relationship Type="http://schemas.openxmlformats.org/officeDocument/2006/relationships/slideLayout" Target="/ppt/slideLayouts/slideLayout5.xml" Id="Rb4a4a53f08f647f9" /><Relationship Type="http://schemas.openxmlformats.org/officeDocument/2006/relationships/slideLayout" Target="/ppt/slideLayouts/slideLayout6.xml" Id="R9312729786c2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7ea84024c4754"/>
    <p:sldLayoutId xmlns:r="http://schemas.openxmlformats.org/officeDocument/2006/relationships" id="2147483650" r:id="R0adc38f5965848cc"/>
    <p:sldLayoutId xmlns:r="http://schemas.openxmlformats.org/officeDocument/2006/relationships" id="2147483651" r:id="R190ad3980476428a"/>
    <p:sldLayoutId xmlns:r="http://schemas.openxmlformats.org/officeDocument/2006/relationships" id="2147483652" r:id="R821ad109fef941f6"/>
    <p:sldLayoutId xmlns:r="http://schemas.openxmlformats.org/officeDocument/2006/relationships" id="2147483653" r:id="Rb4a4a53f08f647f9"/>
    <p:sldLayoutId xmlns:r="http://schemas.openxmlformats.org/officeDocument/2006/relationships" id="2147483654" r:id="R9312729786c2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8628062fd475f" /><Relationship Type="http://schemas.openxmlformats.org/officeDocument/2006/relationships/notesSlide" Target="/ppt/notesSlides/notesSlide1.xml" Id="R9a02b66727d540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ef77e8db140a1" /><Relationship Type="http://schemas.openxmlformats.org/officeDocument/2006/relationships/notesSlide" Target="/ppt/notesSlides/notesSlide2.xml" Id="R70efff6f478a41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1485d8ec34971" /><Relationship Type="http://schemas.openxmlformats.org/officeDocument/2006/relationships/notesSlide" Target="/ppt/notesSlides/notesSlide3.xml" Id="Re418b546511544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91abc1f1e4e48" /><Relationship Type="http://schemas.openxmlformats.org/officeDocument/2006/relationships/notesSlide" Target="/ppt/notesSlides/notesSlide4.xml" Id="Red5449953f95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2defe495a46ed" /><Relationship Type="http://schemas.openxmlformats.org/officeDocument/2006/relationships/notesSlide" Target="/ppt/notesSlides/notesSlide5.xml" Id="Re9c9810990a6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23e57a63f4b84" /><Relationship Type="http://schemas.openxmlformats.org/officeDocument/2006/relationships/notesSlide" Target="/ppt/notesSlides/notesSlide6.xml" Id="R4429c2e2f1c04a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25ee1d7f1429b" /><Relationship Type="http://schemas.openxmlformats.org/officeDocument/2006/relationships/notesSlide" Target="/ppt/notesSlides/notesSlide7.xml" Id="R4904df1cb8204d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47e62193d478b" /><Relationship Type="http://schemas.openxmlformats.org/officeDocument/2006/relationships/notesSlide" Target="/ppt/notesSlides/notesSlide8.xml" Id="R6c118d271a1243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e3eeb5d7247e7" /><Relationship Type="http://schemas.openxmlformats.org/officeDocument/2006/relationships/notesSlide" Target="/ppt/notesSlides/notesSlide9.xml" Id="Rdfa1555403d849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f1bcac47e457b" /><Relationship Type="http://schemas.openxmlformats.org/officeDocument/2006/relationships/notesSlide" Target="/ppt/notesSlides/notesSlide10.xml" Id="Rcfd68db9c75741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8db6d1ee64fc1" /><Relationship Type="http://schemas.openxmlformats.org/officeDocument/2006/relationships/notesSlide" Target="/ppt/notesSlides/notesSlide11.xml" Id="Ra9fffcc36cbc49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5435586ae477d" /><Relationship Type="http://schemas.openxmlformats.org/officeDocument/2006/relationships/notesSlide" Target="/ppt/notesSlides/notesSlide12.xml" Id="R1aa9bdce793044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556eaadb44605" /><Relationship Type="http://schemas.openxmlformats.org/officeDocument/2006/relationships/notesSlide" Target="/ppt/notesSlides/notesSlide13.xml" Id="Rdd42ce1d788543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11e4ad53e4131" /><Relationship Type="http://schemas.openxmlformats.org/officeDocument/2006/relationships/notesSlide" Target="/ppt/notesSlides/notesSlide14.xml" Id="Rbb961aac6ac943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0675244724de9" /><Relationship Type="http://schemas.openxmlformats.org/officeDocument/2006/relationships/notesSlide" Target="/ppt/notesSlides/notesSlide15.xml" Id="R61d57f1157ac42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8267938584c07" /><Relationship Type="http://schemas.openxmlformats.org/officeDocument/2006/relationships/notesSlide" Target="/ppt/notesSlides/notesSlide16.xml" Id="R334638f5c8d847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a4923260d46fd" /><Relationship Type="http://schemas.openxmlformats.org/officeDocument/2006/relationships/notesSlide" Target="/ppt/notesSlides/notesSlide17.xml" Id="R9f04795f86b24c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f84f9f760483b" /><Relationship Type="http://schemas.openxmlformats.org/officeDocument/2006/relationships/notesSlide" Target="/ppt/notesSlides/notesSlide18.xml" Id="R192b4f03186545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6838d84b842f3" /><Relationship Type="http://schemas.openxmlformats.org/officeDocument/2006/relationships/notesSlide" Target="/ppt/notesSlides/notesSlide19.xml" Id="R357d3740d72341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99750000c4306" /><Relationship Type="http://schemas.openxmlformats.org/officeDocument/2006/relationships/notesSlide" Target="/ppt/notesSlides/notesSlide20.xml" Id="Rfc7ad83956fd48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aa60f6aa641c8" /><Relationship Type="http://schemas.openxmlformats.org/officeDocument/2006/relationships/notesSlide" Target="/ppt/notesSlides/notesSlide21.xml" Id="Rf37b1f73672748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7eb5e4d55489a" /><Relationship Type="http://schemas.openxmlformats.org/officeDocument/2006/relationships/notesSlide" Target="/ppt/notesSlides/notesSlide22.xml" Id="R391d96ae649f46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19dbb74d841d1" /><Relationship Type="http://schemas.openxmlformats.org/officeDocument/2006/relationships/notesSlide" Target="/ppt/notesSlides/notesSlide23.xml" Id="R6f869c5a92c848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dd0201d1c4d7e" /><Relationship Type="http://schemas.openxmlformats.org/officeDocument/2006/relationships/notesSlide" Target="/ppt/notesSlides/notesSlide24.xml" Id="Rdc9e63eced7b4c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0f7c75d894505" /><Relationship Type="http://schemas.openxmlformats.org/officeDocument/2006/relationships/notesSlide" Target="/ppt/notesSlides/notesSlide25.xml" Id="Rf89002e28bed4f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83a5be8b648ee" /><Relationship Type="http://schemas.openxmlformats.org/officeDocument/2006/relationships/notesSlide" Target="/ppt/notesSlides/notesSlide26.xml" Id="R5ee82e37b90040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0ac0c498647fa" /><Relationship Type="http://schemas.openxmlformats.org/officeDocument/2006/relationships/notesSlide" Target="/ppt/notesSlides/notesSlide27.xml" Id="R6b812f1628d14df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2e7980c4c471a" /><Relationship Type="http://schemas.openxmlformats.org/officeDocument/2006/relationships/notesSlide" Target="/ppt/notesSlides/notesSlide28.xml" Id="R5f31a50cac3d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2A4E0-25F9-4532-B767-1D09FF68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HarborTrust 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17813-62D8-47CC-8ECA-5532547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A911A-3BBC-42E5-A74D-C12CD4CD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Responsible AI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7DEB-2DEF-4B28-944F-18978182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Governance and practical controls across the AI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3ADC2-95DA-457D-8F0D-B8A3ECF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Sai Kishore Addala</a:t>
            </a:r>
          </a:p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AIML 510  Indiana Wesleyan University</a:t>
            </a:r>
          </a:p>
        </p:txBody>
      </p:sp>
    </p:spTree>
    <p:extLst>
      <p:ext uri="{BB962C8B-B14F-4D97-AF65-F5344CB8AC3E}">
        <p14:creationId xmlns:p14="http://schemas.microsoft.com/office/powerpoint/2010/main" val="1740854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3830A-2538-4BF9-ACBE-21F9894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Scope and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43A10-1948-4F94-A661-291F6FB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ACB85-4944-4D46-A529-CB51B0B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Organization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6353D-6E85-4DB8-9CDB-69B644AD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Fictional Midwest regional bank with about 300 employees and a 30-person technology and data team.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12F23-977B-4354-ABB0-ECA1B91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AI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85101-D6DE-46D0-916B-74BD1B65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Credit decision support, fraud detection, customer-service assistance, and hiring support. Covers built and purchased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3CA50-0A15-4DA2-AAE9-851C775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Operating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E9D5E-68B8-4637-B905-5B608A7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Register every system and assign an accountable owner before use. Approve only a defined purpose, version, and data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C5E95-F7F9-4D36-A5BD-5F722332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Framework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3B9D1-DD82-490D-9352-A6A150D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Govern continuously; map impacts; measure evidence; manage risks. Reopen review after material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214D-7DC6-4DBE-B1C7-1D37B53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Basis: prior HarborTrust frameworks; NIST (2023)</a:t>
            </a:r>
          </a:p>
        </p:txBody>
      </p:sp>
    </p:spTree>
    <p:extLst>
      <p:ext uri="{BB962C8B-B14F-4D97-AF65-F5344CB8AC3E}">
        <p14:creationId xmlns:p14="http://schemas.microsoft.com/office/powerpoint/2010/main" val="590651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886B3-5F78-4CC2-A095-C0D3F96A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Ethical principles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F8B4-F076-4C9F-8014-5AB0203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D73D0-B603-4282-BC44-2C1E512B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Human dignity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08A2E-9516-4BC1-B28A-A5FF20D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We use AI to improve service and protect people. We respect customers and employees as persons with agency and meaningful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3DC89-5E13-4E31-A811-19C68A8E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Fairness and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6D086-5080-4A00-92D2-861BE1B6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We test for unjustified disparities, include underserved groups, and make services accessible through human and digital channels.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79F65-D798-4C5B-AF78-CA4564B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Truth and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5773D-26A6-43CA-A2DA-0411A346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We disclose AI involvement, explain consequential outcomes, protect privacy, and offer meaningful human review and redress.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A829C-CBA3-43F3-825C-8DF2978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Accountability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8B3A1-5CD8-4F25-B912-BCAD5CE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We document owners and evidence, monitor results, and pause or retire systems when risk exceeds approved limits.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E0D16-9A82-4F1A-A5B2-0DE4243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HarborTrust commitments: fairness, transparency, privacy, safety, oversight, inclusion, empowerment, authenticity</a:t>
            </a:r>
          </a:p>
        </p:txBody>
      </p:sp>
    </p:spTree>
    <p:extLst>
      <p:ext uri="{BB962C8B-B14F-4D97-AF65-F5344CB8AC3E}">
        <p14:creationId xmlns:p14="http://schemas.microsoft.com/office/powerpoint/2010/main" val="14527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BB5E4-F0A5-4930-8931-F9260B0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Principles translated into release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16985-88C0-439F-AB31-4EA4BD6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2E23-98C7-4CE9-BFDF-DC7E762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Fairness and inclusion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7D17F-38F6-40FC-8A45-0E84CE36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Subgroup error analysis, accessibility tests, coverage gaps, and a documented plan for unresolved limitations.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9F30C-15E3-4E6D-A3F6-0A29B691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Privacy and 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F315D-97BE-4AD8-AF40-8806F9F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Approved data-flow map, security test results, retention schedule, and tested fallback and recovery procedures.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92ED9-1804-4D53-81C5-52E6549E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Agency and authenticity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F6276-C4A0-47D6-A44E-1C5217C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Visible AI disclosure, understandable notices, a working human handoff, correction and appeal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87E2F-710A-46E8-BD5E-739D4C2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Accountability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81F53-E0A6-4879-B327-ABEAE21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Signed independent validation, named incident owner, approved operating limits, and a funded support and exit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B2EE5-05AA-4863-A104-ED5781B4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Release evidence is required; ethical language alone is insufficient</a:t>
            </a:r>
          </a:p>
        </p:txBody>
      </p:sp>
    </p:spTree>
    <p:extLst>
      <p:ext uri="{BB962C8B-B14F-4D97-AF65-F5344CB8AC3E}">
        <p14:creationId xmlns:p14="http://schemas.microsoft.com/office/powerpoint/2010/main" val="1928564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ACAD4-C984-45DC-8CCD-94ED8F7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Governance and oversight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A0EBF-878A-46A7-A29D-78A3807B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3EBD7-7661-429B-9985-DB685B4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Board Risk Committee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13F6D-FCEB-4381-B24A-DED18206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Approves risk appetite; receives quarterly portfolio, incident, customer-impact, and workforce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960EE-9CA7-4AD0-99C7-15311EA7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AI Steering Committee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DC85-43E9-4C8F-A02E-2E10C325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Executive sponsor chairs monthly reviews. Approves high-impact releases, restrictions, and time-limited exceptions.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28AB9-9CCB-40DA-BD30-623B6BF9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RAI Office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358A7-1D19-4EAB-9A1B-1C930B3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Program lead maintains inventory and standards; coordinates reviews, training, monitoring, and annual framework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747B8-E09D-4481-A4EE-E37ACF2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Independent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596D0-744A-4D6E-9D1F-93906B1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Model Risk, Legal, Privacy, Security, and the customer advocate review evidence separately from delivery incentives.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23E69-0106-40EB-81E2-B4FD577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No developer approves their own high-impact system</a:t>
            </a:r>
          </a:p>
        </p:txBody>
      </p:sp>
    </p:spTree>
    <p:extLst>
      <p:ext uri="{BB962C8B-B14F-4D97-AF65-F5344CB8AC3E}">
        <p14:creationId xmlns:p14="http://schemas.microsoft.com/office/powerpoint/2010/main" val="38055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E6204-DCF6-437A-8E03-C901331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Roles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9E79C-3D5C-4F85-84C5-28FC8F7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46E4-4DF2-4F0A-95BC-80B0113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Executive sponsor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2669C-623A-4C93-88E4-2EBDB26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Funds controls and maintenance; owns risk appetite execution and final high-impact release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FD338-E499-4D7E-B965-40106C6E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RAI program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ABD5F-C02B-4CF5-ACC7-DD01F908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Runs intake, risk tiering, review calendar, evidence register, training records, and exception expiry tracking.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451D-75CB-4C9A-A03A-90B764A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Product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A1A57-6502-439A-B12B-1B76916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Owns business outcomes, affected-person impacts, human review, operating limits, complaints, and incident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5BE21-4E91-4CEF-A621-0F19FA73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Validation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E5F65-F236-4ADB-A650-F27704BC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Independently tests performance, subgroup outcomes, explanations, robustness, and proposed changes; records limitations.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DF202-7446-482D-B2C7-A5DCF8CD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Accountability remains with HarborTrust for vendor systems</a:t>
            </a:r>
          </a:p>
        </p:txBody>
      </p:sp>
    </p:spTree>
    <p:extLst>
      <p:ext uri="{BB962C8B-B14F-4D97-AF65-F5344CB8AC3E}">
        <p14:creationId xmlns:p14="http://schemas.microsoft.com/office/powerpoint/2010/main" val="1387851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4F48F-6226-4A41-87B6-1F8A140A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Technical and stakeholder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4E1B5-A3ED-43E9-888D-8734B21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29E0F-2A97-416D-82E7-6CCBDAD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Data and ML lead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13A22-EF41-44EC-AB2C-C7FF913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Maintains provenance, reproducible pipelines, version controls, secure deployment, monitoring, and rollback.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D394A-5DF7-4DDC-9B3C-07F81A8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Legal and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C40F6-AD5B-44E6-AF76-1A9705E1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Privacy, Security, and Legal approve data authority, applicable duties, contracts, retention, and incident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9A79A-18FD-492D-8E9A-F6A070E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Customer advocate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2B37-35C5-4C80-A7CF-1A06DD4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Reviews accessibility, empowerment, authenticity, appeals, and impacts on vulnerable or underserved people.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FD5A6-59D2-4EE4-845E-639E96A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HR and Procurement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21D84-5043-48E4-AF75-A97AA4CC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HR leads workforce transition and skills plans. Procurement enforces vendor evidence, change notice, audit and exit terms.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A7C4E-7016-440B-8481-F0878642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Internal Audit periodically tests whether approved controls actually operate</a:t>
            </a:r>
          </a:p>
        </p:txBody>
      </p:sp>
    </p:spTree>
    <p:extLst>
      <p:ext uri="{BB962C8B-B14F-4D97-AF65-F5344CB8AC3E}">
        <p14:creationId xmlns:p14="http://schemas.microsoft.com/office/powerpoint/2010/main" val="908977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66DBB-58C4-4C01-B30B-018F180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Twelve-month accountability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7BBA6-E3BC-4097-B95A-831ED0E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339BE-0EE3-4160-9910-68AB164B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Months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B203C-08A0-45C6-8250-2BBCDE2E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Appoint sponsor and RAI lead; approve charter; inventory all AI; assign owners and prohibit unapproved consequential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04C26-B05E-486C-A563-B60F1728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Months 3–4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0786-E93C-4BDF-A5D3-31AF72D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Approve risk tiers and templates; map data and vendors; train all users; establish baselines for priority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61135-471C-47FE-95F5-4B447FC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Months 5–8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096A5-4F0A-4746-BA15-E4EDBB1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Independently validate high-impact systems; pilot with human review; test appeals, monitoring, and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77131-EBF8-4DC1-BC8F-41D1FAD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Months 9–12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1F3F8-6BFB-472C-81C1-B9D6F4E6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Audit controls; correct gaps; exercise vendor exit; review workforce outcomes; report to Board and set next-year budget.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6C005-45D0-48F7-A9E6-59E4889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Proposed milestones: owners in month 2; trained access in month 4; no high-impact release without evidence</a:t>
            </a:r>
          </a:p>
        </p:txBody>
      </p:sp>
    </p:spTree>
    <p:extLst>
      <p:ext uri="{BB962C8B-B14F-4D97-AF65-F5344CB8AC3E}">
        <p14:creationId xmlns:p14="http://schemas.microsoft.com/office/powerpoint/2010/main" val="881799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63CA1-250F-4835-AC19-A2ED635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Risk assessment and approval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FDE97-9E77-4EDE-A929-3261E9D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31AD7-CD8C-4695-AB88-B9FF8FB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Assess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7C647-E0C6-4078-8003-2A1FA425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Record affected groups, intended benefit, harm severity, likelihood, scale, reversibility, misuse, and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27055-4D23-4C45-B5D9-7A463A4A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Assign a 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4976E-63D0-4932-9BF6-8DD65FA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High: credit, hiring, or account restrictions. Moderate: public service assistance. Low: internal drafts with no personal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0A1C-7532-441B-9EA7-7B8C283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Decide and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2F9E-F1E7-4AA8-9427-7A9CBA4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High tier requires independent validation and Steering approval. Moderate requires RAI and control review. Low uses approved-tool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AE8E8-AA93-4A9D-B6F4-31B309E3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Residual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31DC4-86D6-45A2-B1C0-5BC6D662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Assign each risk an owner, mitigation, due date, and evidence. Unknown critical risk blocks release; no averaging away severe harm.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C24D3-98F5-4A59-B56C-7E06DF9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Tiers are internal policy proposals and do not replace legal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489895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06DAC-8010-480A-8F47-D0081B6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Lifecycle actions before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DC3F7-9742-4895-8608-4CC6B5B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63CB2-1637-43A3-A10F-8F8C261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1 Define the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9347F-13CC-42B7-84D6-924C365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Product owner consults users, compares non-AI alternatives, and records purpose, risk tier, and impact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D5C7-43B5-410E-98C2-0E97BD7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2 Curate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7B7D1-5DD7-4F9C-B7B1-4ECFDF7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Data lead verifies authority, provenance, labels, representation, retention, and licensing; produces a dataset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FD2E7-64AF-4182-A1F2-435A963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3 Develop or select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F4749-07D2-4188-8441-2FA4553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Engineering documents model, prompts, retrieval, tools, intended limits, human controls, and vendor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9F3C-8DAB-4979-82DE-ACA3052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4 Validate independently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81CF8-8D4D-4166-B1F9-FDF3B1A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Model Risk tests temporal holdouts, subgroup errors, explanations, misuse, security, and fallback; issues a release opinion.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10DD4-4A16-4B0D-BE83-66A9AC04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Each gate can return work for correction; no launch with unresolved critical findings</a:t>
            </a:r>
          </a:p>
        </p:txBody>
      </p:sp>
    </p:spTree>
    <p:extLst>
      <p:ext uri="{BB962C8B-B14F-4D97-AF65-F5344CB8AC3E}">
        <p14:creationId xmlns:p14="http://schemas.microsoft.com/office/powerpoint/2010/main" val="19452031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8FBEF-DBDB-427B-9D56-7C525F6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Lifecycle actions after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B7B5F-1A8D-456B-A9AF-A7453459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635B4-D552-4949-900B-8493D98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5 Pilot and deploy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13DF9-0438-4B39-8E9A-09FE3BD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Steering approves a limited release after trained staff demonstrate review, notice, handoff, and rollback procedures.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CC767-6128-4DDA-AD7E-62DD101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6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7BCE-2039-4866-910C-7A47B909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Product owner tracks outcomes and complaints; continuous incident alerts, weekly operations and monthly fairness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62F80-A6E1-490E-BFE3-2D77B0B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7 Sustain and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5CB8-090F-4D5F-8183-23EECA7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Engineering investigates drift and delayed labels; independently revalidates retraining, vendor, data, or policy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1029-7C99-417F-8A5D-7F7CC921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8 Dispose or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08274-04E7-4948-955E-0675D74A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Service owner notifies users, migrates safely, revokes access, archives required evidence, and verifies lawful deletion.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A9898-8C59-49B6-8352-A17211E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Support budget, backup owners, and exit procedures are required at initial approval</a:t>
            </a:r>
          </a:p>
        </p:txBody>
      </p:sp>
    </p:spTree>
    <p:extLst>
      <p:ext uri="{BB962C8B-B14F-4D97-AF65-F5344CB8AC3E}">
        <p14:creationId xmlns:p14="http://schemas.microsoft.com/office/powerpoint/2010/main" val="1072377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076B7-EB70-4C9C-9F9B-B2E38C0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Transparency and explanation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B2380-C7DC-4081-A1D4-1FD60305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803C0-ACB8-4107-9333-CF9C21E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Disclose the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1E6CD-4504-44B0-8194-1A53603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Explain when AI assists a decision, what it can do, what data matters, and how to reach an accountable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EA74D-EBAE-45CB-B6C3-74F3F0E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Test faithfulness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F8287-7D6F-4F4F-920D-A708D09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Compare explanations with actual model behavior. Feature attribution is evidence to test, not proof of a causal reason.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45517-CC99-4DB0-9CE7-0CECA5A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Test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D1A8C-E2A9-4319-AA25-56CF2FA4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Use representative customers and employees to explain the notice in their own words; revise confusing or inaccessible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3CE93-9C19-4AF9-8494-6D960B7D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Credit safeguards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5D4E4-C60C-4458-A3B8-C023ADB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Validate specific principal adverse-action reasons against the actual decision. A generic AI score is insufficient; Legal checks Regulation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3B1B6-4C26-45F0-83D0-4987F383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Sources: Phillips et al. (2021); 12 C.F.R. § 1002.9</a:t>
            </a:r>
          </a:p>
        </p:txBody>
      </p:sp>
    </p:spTree>
    <p:extLst>
      <p:ext uri="{BB962C8B-B14F-4D97-AF65-F5344CB8AC3E}">
        <p14:creationId xmlns:p14="http://schemas.microsoft.com/office/powerpoint/2010/main" val="1320985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28027-0945-40F5-9EAC-D9EFF71F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Bias evaluation and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6E8C8-CE63-4B2B-822F-945D13E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578C1-8DB0-415D-8A36-B645E98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Sources of bias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6F1DC-2E20-497F-8905-3954D4D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Inspect institutional practices, sampling and labels, proxy variables, model objectives, and human automation bias.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E9094-C145-4FA0-A83D-5295EC6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Measure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1727E-BF9A-4CCD-931A-E2F1E61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Compare selection and error rates, calibration, burden, and relevant intersections; report sample sizes and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EF83-4FD6-4483-BAC6-43672D74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Choose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E98A1-5E14-4220-B402-800481AB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Credit: thin files and rejected-applicant gaps. Fraud: false alerts and feedback loops. Hiring: job relevance. Service: language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9049F-15A2-467F-B129-4A67E05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Act on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F5970-6334-4B21-A73C-8D3A4B8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Investigate disparities; correct data or design; retest on independent real data. Evidence gaps require restricted use or further testing.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49DB8-ECA5-4684-B431-4D09BB7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No single fairness statistic proves fairness; protected-trait audit data needs privacy controls</a:t>
            </a:r>
          </a:p>
        </p:txBody>
      </p:sp>
    </p:spTree>
    <p:extLst>
      <p:ext uri="{BB962C8B-B14F-4D97-AF65-F5344CB8AC3E}">
        <p14:creationId xmlns:p14="http://schemas.microsoft.com/office/powerpoint/2010/main" val="18972628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672CF-C90B-4F67-BEF9-8479CE6C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Privacy protection and compliance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AA788-989E-4EFB-9F6B-2BA65F3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7D986-4B59-45DB-8A7C-34438C4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Data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9594C-3DE2-4585-A169-C3105D17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Document purpose, necessary fields, legal or contractual authority, notices, permitted reuse, and applicable rights.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C0978-25EA-4781-910E-ACEE22BF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Protection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F613B-D815-421E-93D7-BC37886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Encrypt storage and transport; require MFA and least privilege; redact service logs; separate audit traits from decision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D6CF6-7FC7-4DBF-B817-23C6E8D1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Legal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0D2F0-8D2A-44A7-82B5-C9C23C5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Legal maps bank-regulator and GLBA duties, ECOA/Reg B, FCRA, employment law, and applicable state privacy requirements.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AEB85-F0C1-4C53-98C1-0AC15CE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Transfers and vendors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84F03-A533-4AE2-A56C-E7338833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Map hosting and remote access; assess international scope where relevant; review subprocessors, transfer rules, and deletion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0B458-4FE2-4839-942A-BA150C84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Legal maintains a dated obligations register; voluntary frameworks do not establish compliance</a:t>
            </a:r>
          </a:p>
        </p:txBody>
      </p:sp>
    </p:spTree>
    <p:extLst>
      <p:ext uri="{BB962C8B-B14F-4D97-AF65-F5344CB8AC3E}">
        <p14:creationId xmlns:p14="http://schemas.microsoft.com/office/powerpoint/2010/main" val="1786988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C076E-4690-46B9-8C5F-25DFD4F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Generative AI and vendor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1853F-B292-4EFB-8674-F4806EC7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9D9A2-E6CB-46A0-A0A5-8F7668E4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Approved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56403-5EDA-4F58-B733-5A4DF3C7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Ground service answers in reviewed bank sources. Authenticate account requests and enforce retrieval permissions.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39ED-D57A-447C-BB2B-D229FD2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Bounded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C418-710F-431C-8E1A-66733D6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Test prompt injection and data extraction. Restrict tools to allowed actions; require authorization for consequential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94686-64AF-49A9-80D8-47B37E3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Vendor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7C3C1-A5F3-4825-8523-0BC20DD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Obtain data-use and retention terms, evaluation results, incident commitments, version notice, audit rights, and exit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67F33-C72C-4DD2-BE72-E6B943F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Copyright and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969D6-3BD2-4526-B67E-8BD5056D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Verify source licenses and reuse rights. Review generated outputs; document human contribution and disclose synthetic impersonations.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A35FD-1A16-4F8C-86D1-B829CD8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Filters require adversarial tests and human review; purchasing AI does not transfer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768538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4BA00-5838-433D-B5BF-4D937702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Meaningful human review and customer agency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B3B2C-D37E-4523-8817-AF769B7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81B39-F550-43FF-B200-6E702AB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Decision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A1DD0-276C-430F-83E5-4544CCE3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Lending officer, fraud analyst, and recruiter review evidence and can disagree. Review is documented, not a rubber stamp.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81362-27CF-477D-AD5D-C1D82579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Human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C2C2D-4A37-44DD-9BF8-C4F375D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Provide immediate access to a person for sensitive or failed service requests; preserve phone and branch alternatives.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8CD5-2EA2-4F42-973F-02B1187B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9A10B-AD94-4DBC-AE86-BCA9441F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Let people correct records and appeal. Log the issue, assign a reviewer, communicate the result, and check similar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0FB14-B65F-41B8-84F9-B481761D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Respectful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40550-DC6F-4BF8-B502-10770E9C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Identify the assistant as AI; prohibit deceptive intimacy, manipulative upselling, and barriers to leaving or reaching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E5DC2-310A-458A-AD1A-7EC5D1BE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Empowerment means informed choices and recourse; authenticity means honest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620568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6B6C0-4CCE-4AC4-BCB8-DEBEE92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Employee training and demonstrated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98067-280D-4545-92F7-4D0196E7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6DFBB-FA1C-4896-901D-B547E718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All employees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64FAB-4AE3-492C-AFEE-F84FE25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Before access: approved tools, privacy, fabrication, bias, IP, disclosure, and reporting. Proposed passing score: 80% with remediation.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FB3DC-CEDD-4B66-B16F-F5D27E97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Technical staff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AFE1-DDD7-4234-969D-E0D765C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Quarterly exercises in subgroup tests, prompt injection, monitoring, versioning, and documentation; reviewer checks the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00D03-05B4-497D-A0C3-5F48566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Managers and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F3538-2989-497C-8DA3-D729197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Quarterly incident and appeal simulations; practice stopping a system, investigating harm, and assessing vendor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64E2-02EB-432D-9FA5-E2AE07F6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Refresh and incentives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527AE-8BCA-44BF-9F71-0F881A76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Annual renewal and updates after material changes. Protect risk reporting and reward quality, learning, and responsible maintenance.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4DE75-92BD-44A5-8950-F5C8B1C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RAI lead tracks completion plus observed application; training attendance alone is insufficient</a:t>
            </a:r>
          </a:p>
        </p:txBody>
      </p:sp>
    </p:spTree>
    <p:extLst>
      <p:ext uri="{BB962C8B-B14F-4D97-AF65-F5344CB8AC3E}">
        <p14:creationId xmlns:p14="http://schemas.microsoft.com/office/powerpoint/2010/main" val="6880488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21131-CA7B-4ED6-B112-791412A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User monitoring education and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13014-6800-46C3-80C4-C3F9DE4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C24D2-AC9F-4AB0-9D2B-269589FF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Before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4CE26-D7A3-4529-8C7B-2EF79FF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Provide short accessible notices, privacy guidance, limitations, and a human help route; avoid implying guaranteed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D3B35-48C2-48DC-8594-722B02D4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During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8A20B-FC9A-40F2-A9E0-B3C9475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Monitor sampled answers, failed handoffs, complaints, appeal outcomes, and inappropriate uses with minimized, protected logs.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C87D0-25F6-4C70-8DE2-65B6172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Learning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795BC-AE85-49AE-93B5-72CDABA0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Offer language and accessibility options, examples of safe use, and reminders after recurring errors or product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FAB09-2431-441F-A1C7-97C9935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Feedback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C2BFA-0B70-4A0B-A5DC-CF2E0282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Customer advocate reviews themes monthly; product owner corrects content and controls; significant changes return to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A1DEA-38AA-4DFB-882C-FD0CE85D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Do not optimize engagement time at the expense of independence or effective service</a:t>
            </a:r>
          </a:p>
        </p:txBody>
      </p:sp>
    </p:spTree>
    <p:extLst>
      <p:ext uri="{BB962C8B-B14F-4D97-AF65-F5344CB8AC3E}">
        <p14:creationId xmlns:p14="http://schemas.microsoft.com/office/powerpoint/2010/main" val="1805398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FA137-BCD7-439B-86E9-1CFA6814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Metrics with accountable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0E26-2463-4C57-AB22-AD0AF158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7142-19F2-4848-9BFB-EEACBD16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Coverage and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19D24-9A9B-4081-AE71-A6D3312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Owned systems / inventoried systems and trained users / active users: target 100%. RAI lead blocks access or release for gaps.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7FFCA-42BC-457C-8A25-5802497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Reliability and harm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13B3-C7C0-432A-AE26-1E2F7B1E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Track use-case errors, missed fraud, false restrictions, and confirmed unsafe answers. Owner investigates any approved-limit breach.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5FBDC-0F64-4BFC-9188-70FD47FE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Fairness and explanation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9CB5C-F7C1-4620-9011-8AEC86A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Review subgroup error gaps with uncertainty; audit accurate notices and reasons. Model Risk escalates unexplained material differences.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72DFA-31C5-47BF-81EE-57058FC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Privacy and redress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40BBE-380D-4AF8-9A76-5681B5A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Track confirmed leakage, overdue retention, handoff success, and appeals. Serious disclosure triggers containment; missed handoffs get manual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BB46C-9D9D-49C9-83D3-78FA2A12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Limits set before pilots; dashboard includes denominators, baseline, uncertainty, trend, and owner</a:t>
            </a:r>
          </a:p>
        </p:txBody>
      </p:sp>
    </p:spTree>
    <p:extLst>
      <p:ext uri="{BB962C8B-B14F-4D97-AF65-F5344CB8AC3E}">
        <p14:creationId xmlns:p14="http://schemas.microsoft.com/office/powerpoint/2010/main" val="877070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942E0-5877-4950-99E1-611113C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Use-case metrics and proposed pilot thresholds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05402-260D-446D-8589-FCB2C69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50B84-FF27-4181-8C6C-582550F4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Credit and hiring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6B6D7-935E-4F19-A999-20E0318C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100% documented human review and required notices. Monthly subgroup outcomes and appeals; missing review pauses the affected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CDDA6-7A6C-4318-A772-724D09D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Fraud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E478D-3C95-4CB5-93E0-7558EE5A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Daily precision, recall on confirmed labels, false restrictions, and access delays. Set limits from baseline and harm cost before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C6310-484F-4278-BE9D-5C4EB315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1E72F-610A-480B-8226-37EE343E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Weekly audited correctness and handoff completion. Proposed goal: ≥95% supported answers; ≥99% requested handoffs completed.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BD08-BAB0-422F-BED8-DCA5C62B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Critical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E4F68-3097-4E4B-B6D7-544E23D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Zero tolerance for confirmed sensitive-data leakage or unauthorized consequential action: contain immediately and investigate.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7E7B7-2E51-455D-9557-FF9B9B25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Numeric targets are proposed, not measured or universal standards; validators approve scenario-specific limits</a:t>
            </a:r>
          </a:p>
        </p:txBody>
      </p:sp>
    </p:spTree>
    <p:extLst>
      <p:ext uri="{BB962C8B-B14F-4D97-AF65-F5344CB8AC3E}">
        <p14:creationId xmlns:p14="http://schemas.microsoft.com/office/powerpoint/2010/main" val="867542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BAA6C-D4B6-4695-8594-41E19ED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Incidents exceptions and restart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B4025-3F87-4D26-B63D-A7871CDF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9C237-207E-42EE-9407-8480F7CC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Contain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B2C01-F1FB-4893-9E3E-235986B2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Anyone can report harm. On-call owner disables affected actions or switches to human service while preserving necessary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F9AD0-0576-48E3-8C2B-19743804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81638-4C8C-415A-9DDE-E50B628F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Security and RAI leads triage promptly; identify affected people, root causes, notice duties, and corrective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49B37-7434-4E03-AA79-64CC9FC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Approve restart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C007A-9E73-4034-AFF9-B8D11642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Independent validators retest fixes; high-impact restart needs Steering approval, documented limits, and enhanced monitoring.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26BAE-71EE-40E9-88BF-6CB6A2D1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Control exceptions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8D173-F1C4-4D84-95C4-D51E3AA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Record scope, accountable sponsor, compensating controls, and expiry. No exception waives legal duties or unresolved critical harm.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7B5A2-DBBF-40EA-BD6F-BCCD3D94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Proposed internal response: immediate containment; same-day escalation; 48-hour action plan</a:t>
            </a:r>
          </a:p>
        </p:txBody>
      </p:sp>
    </p:spTree>
    <p:extLst>
      <p:ext uri="{BB962C8B-B14F-4D97-AF65-F5344CB8AC3E}">
        <p14:creationId xmlns:p14="http://schemas.microsoft.com/office/powerpoint/2010/main" val="11018380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A4CD4-A7A4-4C54-83B4-960713C7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Long-term impacts on people and society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956B1-972A-4E56-8DA5-86F6EE1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B73C-60BD-4911-BAD9-A83D6717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Employees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7D412-33D8-48A1-A4C7-6538C90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Before automation, evaluate workload, skill loss, job quality, and displacement. Budget paid retraining and realistic redeployment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899D0-BC59-4973-99B3-E74D0DE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ECBAB-37E0-4E3F-BE8A-747CA147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Quarterly review access, trust, dependence, financial harm, vulnerable-user outcomes, and whether human contact has diminished.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3488C-B03B-4EE8-AAAE-486BFC2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Wider effects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099C5-4697-4A00-A380-2445F22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Review exclusion, feedback loops, manipulation, energy and resource use, and dependency on a single vendor.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6ACF-82C0-4473-AC58-F9E0498E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Decision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D0C19-565D-4209-995F-6878F4D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Compare benefit with distribution of harm over 6 and 12 months. Restrict, redesign, or retire systems with persistent unacceptable impacts.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03EFD-B710-4EC5-97E6-A27AD12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Sources: USCCB (n.d.); Vallor (2018); NIST (2023)</a:t>
            </a:r>
          </a:p>
        </p:txBody>
      </p:sp>
    </p:spTree>
    <p:extLst>
      <p:ext uri="{BB962C8B-B14F-4D97-AF65-F5344CB8AC3E}">
        <p14:creationId xmlns:p14="http://schemas.microsoft.com/office/powerpoint/2010/main" val="6105297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66647-E8A5-4501-80B7-4502A50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Ready-to-use release and retirement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16230-4B4F-4E4B-8529-9B225EA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3CCE6-5BBE-4E5F-B467-43EBCF6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System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3C7BD-A6BB-4D07-8041-9D31A19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ID, owner, approved purpose and version, affected groups, data sources, dependencies, tier, and next review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656A-8326-4439-9421-955C796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Release packet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D9570-36F8-4061-91CA-8604259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Impact assessment, data record, model card, tests, legal review, training, monitoring limits, fallback, and signed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CBE25-DCF4-4FF9-9328-4ED0D433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Risk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75CA-28D9-4DC1-8599-D23DEAE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Risk, people affected, severity and uncertainty, mitigation, owner, deadline, residual risk, and verified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4C5B-2F9A-4874-B9D2-6F9070B2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Closure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98BFA-3A9B-4986-A163-19940542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Customer notice, replacement test, records and legal holds, deletion proof, access revocation, vendor closure, and lessons learned.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21AC3-AE65-4E38-AE6E-25061EF2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Retirement is complete only when service continuity and evidence obligations are resolved</a:t>
            </a:r>
          </a:p>
        </p:txBody>
      </p:sp>
    </p:spTree>
    <p:extLst>
      <p:ext uri="{BB962C8B-B14F-4D97-AF65-F5344CB8AC3E}">
        <p14:creationId xmlns:p14="http://schemas.microsoft.com/office/powerpoint/2010/main" val="6643452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F98EE-E033-43C8-A0A0-723170D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Applying the framework in the workplace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46DD3-4C17-464B-ACD9-715E329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1457F-88E9-4A68-BCA6-53E6E63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First 30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907C6-0C3A-475C-8951-251C55F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71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Propose an AI inventory and bring one system through purpose, owner, data-scope, and stakeholder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458A-C5D7-41CE-AF4A-142CCCC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Days 31–60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32226-3940-424F-888E-BCC95B2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Run a small audit of errors, subgroup coverage, explanations, and privacy; share findings through the responsible review channel.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7E981-960D-442D-A436-FA9876CB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Days 61–90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529F6-D19E-4EB6-BC0E-ED0E4EB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86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Pilot monitoring and a tested human fallback; deliver a staff training session and record improvements and remaining gaps.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7149C-4915-4F00-B275-51646C8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Ongoing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7F2D7-0884-4359-8EF1-39087C54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Review outcomes monthly, refresh skills quarterly, and maintain an evidence-based portfolio without confidential organizational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503B8-C7AE-4EA7-B878-AB303954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Proposed professional action plan to adopt through the organization’s approval processes</a:t>
            </a:r>
          </a:p>
        </p:txBody>
      </p:sp>
    </p:spTree>
    <p:extLst>
      <p:ext uri="{BB962C8B-B14F-4D97-AF65-F5344CB8AC3E}">
        <p14:creationId xmlns:p14="http://schemas.microsoft.com/office/powerpoint/2010/main" val="1938012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41684-E747-49E6-BA8B-A6EBB82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Prioritized APA references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8196E-6E87-44CA-84BB-930821B6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8982A-9F8F-4D56-90AC-01F4674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1 Governance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6B3F1-625A-4AAA-88D5-F6A57DE3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National Institute of Standards and Technology. (2023). Artificial intelligence risk management framework (AI RMF 1.0) (NIST AI 100-1).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7BCF5-D9C6-47A4-859E-DC5A582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https://doi.org/10.6028/NIST.AI.100-1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A3B61-A748-4E99-858B-C5394564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2 Bias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C863-BF3C-49BF-97C6-315A6F9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Schwartz, R., Vassilev, A., Greene, K., Perine, L., Burt, A., &amp; Hall, P. (2022). Towards a standard for identifying and managing bias in artificial intelligence (NIST SP 1270). National Institute of Standards and Technology.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4DC61-D067-403D-8E8A-F5E9618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https://doi.org/10.6028/NIST.SP.1270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24C1D-1E81-4C8A-BAE6-3953ECB0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3 Privacy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9009E-7CAA-44FE-A796-95A346D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National Institute of Standards and Technology. (2020). NIST privacy framework: A tool for improving privacy through enterprise risk management, version 1.0.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F40A3-C3C7-49BD-979B-3725E76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https://doi.org/10.6028/NIST.CSWP.01162020</a:t>
            </a:r>
          </a:p>
        </p:txBody>
      </p:sp>
    </p:spTree>
    <p:extLst>
      <p:ext uri="{BB962C8B-B14F-4D97-AF65-F5344CB8AC3E}">
        <p14:creationId xmlns:p14="http://schemas.microsoft.com/office/powerpoint/2010/main" val="10888836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9174A-0F17-4084-A8CB-2C199EC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Prioritized APA references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37E1F-EC41-4F7B-A1E3-6A6312D5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8941-B24C-4002-B5AC-028B6F9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4 Security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0CC6D-07F3-4560-9D4E-20CF814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Pascoe, C., Quinn, S., &amp; Scarfone, K. (2024). The NIST cybersecurity framework (CSF) 2.0 (NIST CSWP 29). National Institute of Standards and Technology.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85D81-A601-416F-AB03-633AF806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https://doi.org/10.6028/NIST.CSWP.29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9B0D8-E8F0-437C-8CB7-6B36D4C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5 Credit explanations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E0B04-E3CD-407E-8674-F0A8BA9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Consumer Financial Protection Bureau. (n.d.). § 1002.9 Notifications. Consumer Financial Protection Bureau regulations.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8ED91-5E47-4591-AA9C-B1A9E2DC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https://www.consumerfinance.gov/rules-policy/regulations/1002/9/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B8245-7E40-4BBB-A516-CF102908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6 Explainability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D137F-FC20-4FCD-A8B0-201265E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Phillips, P. J., Hahn, C. A., Fontana, P. C., Yates, A. N., Greene, K. K., Broniatowski, D. A., &amp; Przybocki, M. A. (2021). Four principles of explainable artificial intelligence (NISTIR 8312). National Institute of Standards and Technology.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AC4E3-4ED4-4351-A9D7-6EBF876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https://doi.org/10.6028/NIST.IR.8312</a:t>
            </a:r>
          </a:p>
        </p:txBody>
      </p:sp>
    </p:spTree>
    <p:extLst>
      <p:ext uri="{BB962C8B-B14F-4D97-AF65-F5344CB8AC3E}">
        <p14:creationId xmlns:p14="http://schemas.microsoft.com/office/powerpoint/2010/main" val="8880511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D0197-23C1-4F04-858A-322B2AE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Prioritized APA references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C4768-7AB7-45AA-BD22-DCFD31B9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79DA8-B076-4FAD-8AE0-3FB1076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7 Generative AI risks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DD6A4-DDCA-41D4-B0BC-2757744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National Institute of Standards and Technology. (2024). Artificial intelligence risk management framework: Generative artificial intelligence profile (NIST AI 600-1).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8B006-483B-4BA8-8ED9-A6E2DE65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https://doi.org/10.6028/NIST.AI.600-1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DCF0A-084D-41B8-9BC3-C262EEF0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8 Model 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14661-2A96-4551-B64C-99156E88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Mitchell, M., Wu, S., Zaldivar, A., Barnes, P., Vasserman, L., Hutchinson, B., Spitzer, E., Raji, I. D., &amp; Gebru, T. (2019). Model cards for model reporting. Proceedings of the Conference on Fairness, Accountability, and Transparency (pp. 220–229). Association for Computing Machinery.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1BD53-0DE5-4C5B-B7CC-7A7985F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https://doi.org/10.1145/3287560.3287596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CCF27-9120-4132-A4A3-8D7AE205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9 Dataset 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98CA-B9E8-4A0A-8D65-0376F93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Gebru, T., Morgenstern, J., Vecchione, B., Vaughan, J. W., Wallach, H., Daumé III, H., &amp; Crawford, K. (2021). Datasheets for datasets. Communications of the ACM, 64(12), 86–92.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E38EB-568C-4467-995C-C0156509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https://doi.org/10.1145/3458723</a:t>
            </a:r>
          </a:p>
        </p:txBody>
      </p:sp>
    </p:spTree>
    <p:extLst>
      <p:ext uri="{BB962C8B-B14F-4D97-AF65-F5344CB8AC3E}">
        <p14:creationId xmlns:p14="http://schemas.microsoft.com/office/powerpoint/2010/main" val="9324547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D2C0D-1517-42AF-8985-077D99E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C49"/>
                </a:solidFill>
                <a:latin typeface="Bitstream Charter"/>
                <a:ea typeface="Bitstream Charter"/>
                <a:cs typeface="Bitstream Charter"/>
              </a:rPr>
              <a:t>Prioritized APA references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27BC-3988-4DE7-9B31-AE356368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55AFC-6F2E-4764-A296-ACF06986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10 Data ethics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2F563-954D-4B22-BE2B-F8D265D8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Vallor, S. (2018). An introduction to data ethics. Markkula Center for Applied Ethics, Santa Clara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34914-79C4-410F-98B7-2CE6271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https://www.scu.edu/ethics/focus-areas/technology-ethics/resources/an-introduction-to-data-ethics/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D5573-0C7D-4F3C-88E9-F3F46CF7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11 Workforce dignity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7EF82-25E4-4104-B14E-D5F5142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United States Conference of Catholic Bishops. (n.d.). The dignity of work and the rights of workers.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9B71B-C3AB-4D65-9B42-6E9683D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https://www.usccb.org/beliefs-and-teachings/what-we-believe/catholic-social-teaching/the-dignity-of-work-and-the-rights-of-workers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106C2-3366-4E2E-8C04-21E01826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87F82"/>
                </a:solidFill>
                <a:latin typeface="Bitstream Charter"/>
                <a:ea typeface="Bitstream Charter"/>
                <a:cs typeface="Bitstream Charter"/>
              </a:rPr>
              <a:t>12 Output rights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52DA-6B33-449D-B5C1-C3DD4966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53E4A"/>
                </a:solidFill>
                <a:latin typeface="Bitstream Charter"/>
                <a:ea typeface="Bitstream Charter"/>
                <a:cs typeface="Bitstream Charter"/>
              </a:rPr>
              <a:t>U.S. Copyright Office. (2025). Copyright and artificial intelligence: Part 2—Copyrightability.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F4173-C317-4C1B-B4F2-092A3E42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780"/>
                </a:solidFill>
                <a:latin typeface="Bitstream Charter"/>
                <a:ea typeface="Bitstream Charter"/>
                <a:cs typeface="Bitstream Charter"/>
              </a:rPr>
              <a:t>https://www.copyright.gov/ai/Copyright-and-Artificial-Intelligence-Part-2-Copyrightability-Report.pdf</a:t>
            </a:r>
          </a:p>
        </p:txBody>
      </p:sp>
    </p:spTree>
    <p:extLst>
      <p:ext uri="{BB962C8B-B14F-4D97-AF65-F5344CB8AC3E}">
        <p14:creationId xmlns:p14="http://schemas.microsoft.com/office/powerpoint/2010/main" val="1936986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2026-10-07T21:46:41.6660000Z</dcterms:created>
  <dcterms:modified xsi:type="dcterms:W3CDTF">2026-10-07T21:46:41.6660000Z</dcterms:modified>
</coreProperties>
</file>