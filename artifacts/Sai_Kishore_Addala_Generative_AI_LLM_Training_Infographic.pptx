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A59F-79DD-896E-DDE5-27D60C6B5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29367-B55B-7C75-AC54-1F675597C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6DB3-5B15-B24F-B3A4-90902450B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8CB9A-75B1-D32D-E390-6CE2606F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1D955-50B8-EC20-8AD5-1935D758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7874-DD7F-03F0-CB70-DB61D72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68EAE-CF2A-7EE8-0BF3-65F47A64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3DE6-ACE7-E6FA-461A-4C328692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0933A-37F1-5DBA-593C-F32C0D9B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37A46-2A15-9BEE-C7D5-D8EF306C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9E9A-A04E-526A-AFE3-7DE4B8DB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FF17F-4EF4-F1BE-62BD-8A3A3A915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CF8AC-7F13-49BE-F698-C287D9BE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752B-8161-A8BD-079D-7E016A40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2971F-AF32-6235-3013-53945981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2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9E75-6BFA-6C5C-38A9-23A83AD9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78B73-21C7-9967-9FA5-923FFC463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09A9E-6E16-A767-788A-CC9A49CA1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3C5B0-36F9-4A4A-6004-E4E9B9BA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03804-C13A-DDED-4DD7-8E53B223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B79B2-047A-AAA1-D2FF-6CA543E7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4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E7E2-422C-A87D-25C7-14690AFD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66196-B726-7983-F870-898104F35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DCD24-14C8-C95E-EE6B-4F8E54F81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20FFE-EB5A-92B1-1006-607A1B189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7D47F-B39D-6A47-37D6-235F20FCF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0353F-BCBD-5CD1-3893-2016A75B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020D9-091B-A1EB-279A-A8DB0BA6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11BBC8-A9EF-D36E-3423-665800A0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9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2874-1F2F-2806-D7C5-1577BE657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47F0F-E315-8892-BAB0-CC12CFF1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220AF-183B-3156-5236-53B2A154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450A-1631-5C3E-7506-0C6F8EDE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4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D74A0-7E3C-4FF3-B793-7698685F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D38CE-FFDA-A179-FDF2-EB1E38E2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8062E-9A13-DDAC-688A-74ABD08B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1893-9DAB-A536-23A8-49B152A1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F790-158E-BE16-B06F-3FDB5323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B29AA-6E7D-8EA7-FD06-09E290752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1CF63-9B4F-6809-1147-49CCCFA2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410A5-091E-8404-CBD4-9CC49A3F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32F41-5AFE-099B-CC4D-DB60060F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7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91C2-8FC7-11E3-01B8-E43C4771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90131-F634-42D6-6584-438C632E6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A55F1-17A3-9786-E651-9B5098BAD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19F18-2CE5-78FC-5FF4-19F4E6997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06000-1F46-85EB-764C-416AC34D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15DF2-4770-00F5-D410-B1FE01E6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07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08E8B-30B6-FA15-1A63-398B0D9D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D8E70-D875-E636-084C-E3FD1F5B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35A5F-6316-D74F-B848-3CB28933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6BEDC-6BDB-4F1E-0490-29EB4F14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2D8D4-7E34-AFDB-5826-1EE1A48B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DD193-5DED-C86E-76FA-048954C7E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0FDC4-12A6-4610-4E8B-B62A6124F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4253B-5193-F8B1-7FD1-19070798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8C31B-3B46-824F-8C44-B288F2AE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D0610-F3AD-A651-5E5E-812FFDA0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2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09D52-526B-9797-B906-0AB9517F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AA18A-7C97-9459-F4AF-3401D5B9D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B78AF-50EC-9B48-1EF4-2FC5876A6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4D9AA-A65F-4465-9876-1D43D555CBB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E4D1-1304-8571-BE55-52114DD10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BDE-8019-DF3B-FDAF-5C98C4141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5D86C-CA66-4B17-A294-E0D3597EB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5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F76121-86CB-57E1-A784-3BDB779207FD}"/>
              </a:ext>
            </a:extLst>
          </p:cNvPr>
          <p:cNvSpPr txBox="1"/>
          <p:nvPr/>
        </p:nvSpPr>
        <p:spPr>
          <a:xfrm>
            <a:off x="1193800" y="0"/>
            <a:ext cx="1003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Training Generative AI Large Language Models (LLMs)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9D93C0-655D-097B-D025-7AA4529A631C}"/>
              </a:ext>
            </a:extLst>
          </p:cNvPr>
          <p:cNvSpPr/>
          <p:nvPr/>
        </p:nvSpPr>
        <p:spPr>
          <a:xfrm>
            <a:off x="1307251" y="803473"/>
            <a:ext cx="1828800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/>
              <a:t>Data Collection</a:t>
            </a:r>
          </a:p>
          <a:p>
            <a:endParaRPr lang="en-US" sz="1100" dirty="0"/>
          </a:p>
          <a:p>
            <a:r>
              <a:rPr lang="en-US" sz="1100" dirty="0"/>
              <a:t>Books</a:t>
            </a:r>
          </a:p>
          <a:p>
            <a:r>
              <a:rPr lang="en-US" sz="1100" dirty="0"/>
              <a:t>Websites</a:t>
            </a:r>
          </a:p>
          <a:p>
            <a:r>
              <a:rPr lang="en-US" sz="1100" dirty="0"/>
              <a:t>Research Papers</a:t>
            </a:r>
          </a:p>
          <a:p>
            <a:r>
              <a:rPr lang="en-US" sz="1100" dirty="0"/>
              <a:t>Datasets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153EA-F18B-ED6D-EBCA-8075E74BABE3}"/>
              </a:ext>
            </a:extLst>
          </p:cNvPr>
          <p:cNvSpPr/>
          <p:nvPr/>
        </p:nvSpPr>
        <p:spPr>
          <a:xfrm>
            <a:off x="1341119" y="1931692"/>
            <a:ext cx="1794932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/>
              <a:t>Data Cleaning</a:t>
            </a:r>
          </a:p>
          <a:p>
            <a:endParaRPr lang="en-US" sz="1100" dirty="0"/>
          </a:p>
          <a:p>
            <a:r>
              <a:rPr lang="en-US" sz="1100" dirty="0"/>
              <a:t>Filtering</a:t>
            </a:r>
          </a:p>
          <a:p>
            <a:r>
              <a:rPr lang="en-US" sz="1100" dirty="0"/>
              <a:t>Tokenization</a:t>
            </a:r>
          </a:p>
          <a:p>
            <a:r>
              <a:rPr lang="en-US" sz="1100" dirty="0"/>
              <a:t>Deduplication</a:t>
            </a:r>
          </a:p>
          <a:p>
            <a:r>
              <a:rPr lang="en-US" sz="1100" dirty="0"/>
              <a:t>Formatting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2E320F-A18F-1CB4-4555-2DC944B843B7}"/>
              </a:ext>
            </a:extLst>
          </p:cNvPr>
          <p:cNvSpPr/>
          <p:nvPr/>
        </p:nvSpPr>
        <p:spPr>
          <a:xfrm>
            <a:off x="1341119" y="3142521"/>
            <a:ext cx="1794932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/>
              <a:t>Model Training</a:t>
            </a:r>
          </a:p>
          <a:p>
            <a:endParaRPr lang="en-US" sz="1100" dirty="0"/>
          </a:p>
          <a:p>
            <a:r>
              <a:rPr lang="en-US" sz="1100" dirty="0"/>
              <a:t>GPT-4</a:t>
            </a:r>
          </a:p>
          <a:p>
            <a:r>
              <a:rPr lang="en-US" sz="1100" dirty="0"/>
              <a:t>Gemini</a:t>
            </a:r>
          </a:p>
          <a:p>
            <a:r>
              <a:rPr lang="en-US" sz="1100" dirty="0"/>
              <a:t>Claude</a:t>
            </a:r>
          </a:p>
          <a:p>
            <a:r>
              <a:rPr lang="en-US" sz="1100" dirty="0" err="1"/>
              <a:t>LLaMA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31A53D-475F-D49E-069F-4966AAC05A32}"/>
              </a:ext>
            </a:extLst>
          </p:cNvPr>
          <p:cNvSpPr/>
          <p:nvPr/>
        </p:nvSpPr>
        <p:spPr>
          <a:xfrm>
            <a:off x="1386836" y="4369946"/>
            <a:ext cx="1794933" cy="9736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/>
              <a:t>Fine-Tuning</a:t>
            </a:r>
          </a:p>
          <a:p>
            <a:endParaRPr lang="en-US" sz="1100" dirty="0"/>
          </a:p>
          <a:p>
            <a:r>
              <a:rPr lang="en-US" sz="1100" dirty="0"/>
              <a:t>RLHF</a:t>
            </a:r>
          </a:p>
          <a:p>
            <a:r>
              <a:rPr lang="en-US" sz="1100" dirty="0"/>
              <a:t>Human Feedback</a:t>
            </a:r>
          </a:p>
          <a:p>
            <a:r>
              <a:rPr lang="en-US" sz="1100" dirty="0"/>
              <a:t>Safety Testing</a:t>
            </a:r>
          </a:p>
          <a:p>
            <a:r>
              <a:rPr lang="en-US" sz="1100" dirty="0"/>
              <a:t>Evaluation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20D821-F0AB-D83E-6EC2-729BF536D59D}"/>
              </a:ext>
            </a:extLst>
          </p:cNvPr>
          <p:cNvSpPr/>
          <p:nvPr/>
        </p:nvSpPr>
        <p:spPr>
          <a:xfrm>
            <a:off x="1386836" y="5535335"/>
            <a:ext cx="1862666" cy="9827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/>
              <a:t>Deployment</a:t>
            </a:r>
          </a:p>
          <a:p>
            <a:endParaRPr lang="en-US" sz="1100" dirty="0"/>
          </a:p>
          <a:p>
            <a:r>
              <a:rPr lang="en-US" sz="1100" dirty="0"/>
              <a:t>Cloud Hosting</a:t>
            </a:r>
          </a:p>
          <a:p>
            <a:r>
              <a:rPr lang="en-US" sz="1100" dirty="0"/>
              <a:t>APIs</a:t>
            </a:r>
          </a:p>
          <a:p>
            <a:r>
              <a:rPr lang="en-US" sz="1100" dirty="0"/>
              <a:t>Monitoring</a:t>
            </a:r>
          </a:p>
          <a:p>
            <a:r>
              <a:rPr lang="en-US" sz="1100" dirty="0"/>
              <a:t>Security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5EFE72A-A633-1D90-AF72-593C102331C1}"/>
              </a:ext>
            </a:extLst>
          </p:cNvPr>
          <p:cNvSpPr/>
          <p:nvPr/>
        </p:nvSpPr>
        <p:spPr>
          <a:xfrm>
            <a:off x="2221651" y="1770897"/>
            <a:ext cx="45719" cy="1614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3F3BAC4-9638-4E37-3DBE-492C68337520}"/>
              </a:ext>
            </a:extLst>
          </p:cNvPr>
          <p:cNvSpPr/>
          <p:nvPr/>
        </p:nvSpPr>
        <p:spPr>
          <a:xfrm>
            <a:off x="2221651" y="2891894"/>
            <a:ext cx="45719" cy="254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DF7AD08-5500-0595-06CC-1DCA7F25A2AA}"/>
              </a:ext>
            </a:extLst>
          </p:cNvPr>
          <p:cNvSpPr/>
          <p:nvPr/>
        </p:nvSpPr>
        <p:spPr>
          <a:xfrm>
            <a:off x="2238584" y="4149647"/>
            <a:ext cx="45719" cy="2065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7E4948B-84C3-950A-081B-A4FE86527281}"/>
              </a:ext>
            </a:extLst>
          </p:cNvPr>
          <p:cNvSpPr/>
          <p:nvPr/>
        </p:nvSpPr>
        <p:spPr>
          <a:xfrm flipH="1">
            <a:off x="2238585" y="5364997"/>
            <a:ext cx="45719" cy="1489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59525-82AD-7597-D06F-B2380DD3611B}"/>
              </a:ext>
            </a:extLst>
          </p:cNvPr>
          <p:cNvSpPr txBox="1"/>
          <p:nvPr/>
        </p:nvSpPr>
        <p:spPr>
          <a:xfrm>
            <a:off x="5198535" y="1475039"/>
            <a:ext cx="48175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Resource Costs</a:t>
            </a:r>
            <a:endParaRPr lang="en-US" dirty="0"/>
          </a:p>
          <a:p>
            <a:r>
              <a:rPr lang="en-US" b="1" dirty="0"/>
              <a:t>Data</a:t>
            </a:r>
            <a:br>
              <a:rPr lang="en-US" dirty="0"/>
            </a:br>
            <a:r>
              <a:rPr lang="en-US" dirty="0"/>
              <a:t>• $100K – $10M+</a:t>
            </a:r>
          </a:p>
          <a:p>
            <a:r>
              <a:rPr lang="en-US" b="1" dirty="0"/>
              <a:t>Compute</a:t>
            </a:r>
            <a:br>
              <a:rPr lang="en-US" dirty="0"/>
            </a:br>
            <a:r>
              <a:rPr lang="en-US" dirty="0"/>
              <a:t>• Thousands of GPUs</a:t>
            </a:r>
            <a:br>
              <a:rPr lang="en-US" dirty="0"/>
            </a:br>
            <a:r>
              <a:rPr lang="en-US" dirty="0"/>
              <a:t>• Distributed Computing</a:t>
            </a:r>
          </a:p>
          <a:p>
            <a:r>
              <a:rPr lang="en-US" b="1" dirty="0"/>
              <a:t>Energy</a:t>
            </a:r>
            <a:br>
              <a:rPr lang="en-US" dirty="0"/>
            </a:br>
            <a:r>
              <a:rPr lang="en-US" dirty="0"/>
              <a:t>• Millions of kWh</a:t>
            </a:r>
          </a:p>
          <a:p>
            <a:r>
              <a:rPr lang="en-US" b="1" dirty="0"/>
              <a:t>Time</a:t>
            </a:r>
            <a:br>
              <a:rPr lang="en-US" dirty="0"/>
            </a:br>
            <a:r>
              <a:rPr lang="en-US" dirty="0"/>
              <a:t>• Several Weeks </a:t>
            </a:r>
            <a:r>
              <a:rPr lang="en-US"/>
              <a:t>to Several Months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Example Models</a:t>
            </a:r>
            <a:endParaRPr lang="en-US" dirty="0"/>
          </a:p>
          <a:p>
            <a:r>
              <a:rPr lang="en-US" dirty="0"/>
              <a:t>GPT-4 (OpenAI) – Estimated $100M+</a:t>
            </a:r>
          </a:p>
          <a:p>
            <a:r>
              <a:rPr lang="en-US" dirty="0"/>
              <a:t>Gemini (Google) – Tens to Hundreds of Millions</a:t>
            </a:r>
          </a:p>
          <a:p>
            <a:r>
              <a:rPr lang="en-US" dirty="0"/>
              <a:t>Claude (Anthropic) – Tens of Millions</a:t>
            </a:r>
          </a:p>
          <a:p>
            <a:r>
              <a:rPr lang="en-US" dirty="0" err="1"/>
              <a:t>LLaMA</a:t>
            </a:r>
            <a:r>
              <a:rPr lang="en-US" dirty="0"/>
              <a:t> (Meta) – Millions to Tens of Millions</a:t>
            </a:r>
          </a:p>
          <a:p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8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Jaiya Ghanta</dc:creator>
  <cp:lastModifiedBy>Jaiya Ghanta</cp:lastModifiedBy>
  <cp:revision>1</cp:revision>
  <dcterms:created xsi:type="dcterms:W3CDTF">2026-06-04T07:45:25Z</dcterms:created>
  <dcterms:modified xsi:type="dcterms:W3CDTF">2026-06-04T07:45:25Z</dcterms:modified>
</cp:coreProperties>
</file>