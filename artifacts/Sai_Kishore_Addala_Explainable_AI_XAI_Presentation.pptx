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22" r:id="rId5"/>
    <p:sldId id="321" r:id="rId6"/>
    <p:sldId id="320" r:id="rId7"/>
    <p:sldId id="319" r:id="rId8"/>
    <p:sldId id="31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83" y="234892"/>
            <a:ext cx="10435361" cy="2063692"/>
          </a:xfrm>
        </p:spPr>
        <p:txBody>
          <a:bodyPr>
            <a:normAutofit/>
          </a:bodyPr>
          <a:lstStyle/>
          <a:p>
            <a:r>
              <a:rPr lang="en-US" sz="4400" dirty="0"/>
              <a:t>Explainable AI (XAI): Transparency, Validation, and Trust in Large Language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028E1-7D77-69B8-5F0A-EF5B8B2B48E9}"/>
              </a:ext>
            </a:extLst>
          </p:cNvPr>
          <p:cNvSpPr txBox="1"/>
          <p:nvPr/>
        </p:nvSpPr>
        <p:spPr>
          <a:xfrm>
            <a:off x="984583" y="2136338"/>
            <a:ext cx="486561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Sai Kishore </a:t>
            </a:r>
            <a:r>
              <a:rPr lang="en-US" sz="2400" dirty="0" err="1"/>
              <a:t>Addala</a:t>
            </a:r>
            <a:endParaRPr lang="en-US" sz="2400" dirty="0"/>
          </a:p>
          <a:p>
            <a:r>
              <a:rPr lang="en-US" dirty="0"/>
              <a:t>MS Computer Information Systems – Artificial Intelligence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022885-5A33-DD87-CC7F-0EC8388EB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264" y="3154262"/>
            <a:ext cx="5215154" cy="355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174" y="-444617"/>
            <a:ext cx="9357826" cy="2822166"/>
          </a:xfrm>
        </p:spPr>
        <p:txBody>
          <a:bodyPr/>
          <a:lstStyle/>
          <a:p>
            <a:r>
              <a:rPr lang="en-US" dirty="0"/>
              <a:t>WHY EXPLAINABLE AI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5EE869-9266-7A96-44E9-99DB7716094F}"/>
              </a:ext>
            </a:extLst>
          </p:cNvPr>
          <p:cNvSpPr txBox="1"/>
          <p:nvPr/>
        </p:nvSpPr>
        <p:spPr>
          <a:xfrm>
            <a:off x="1031846" y="1325461"/>
            <a:ext cx="10385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Explainable Artificial Intelligence (XAI) refers to methods and techniques that make AI systems understandable and transparent to humans. XAI helps users understand how AI models make decisions and predictions.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35FDEA-5D9F-A746-C689-8279D92E3B55}"/>
              </a:ext>
            </a:extLst>
          </p:cNvPr>
          <p:cNvSpPr txBox="1"/>
          <p:nvPr/>
        </p:nvSpPr>
        <p:spPr>
          <a:xfrm>
            <a:off x="1038930" y="2248791"/>
            <a:ext cx="359048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25000"/>
                  </a:schemeClr>
                </a:solidFill>
              </a:rPr>
              <a:t>Why Explainability Matters</a:t>
            </a:r>
          </a:p>
          <a:p>
            <a:r>
              <a:rPr lang="en-US" sz="1600" dirty="0">
                <a:solidFill>
                  <a:schemeClr val="accent3">
                    <a:lumMod val="25000"/>
                  </a:schemeClr>
                </a:solidFill>
              </a:rPr>
              <a:t>• Builds trust in AI systems</a:t>
            </a:r>
          </a:p>
          <a:p>
            <a:r>
              <a:rPr lang="en-US" sz="1600" dirty="0">
                <a:solidFill>
                  <a:schemeClr val="accent3">
                    <a:lumMod val="25000"/>
                  </a:schemeClr>
                </a:solidFill>
              </a:rPr>
              <a:t>• Improves accountability and fairness</a:t>
            </a:r>
          </a:p>
          <a:p>
            <a:r>
              <a:rPr lang="en-US" sz="1600" dirty="0">
                <a:solidFill>
                  <a:schemeClr val="accent3">
                    <a:lumMod val="25000"/>
                  </a:schemeClr>
                </a:solidFill>
              </a:rPr>
              <a:t>• Helps identify errors and bias</a:t>
            </a:r>
          </a:p>
          <a:p>
            <a:r>
              <a:rPr lang="en-US" sz="1600" dirty="0">
                <a:solidFill>
                  <a:schemeClr val="accent3">
                    <a:lumMod val="25000"/>
                  </a:schemeClr>
                </a:solidFill>
              </a:rPr>
              <a:t>• Supports regulatory compliance</a:t>
            </a:r>
          </a:p>
          <a:p>
            <a:r>
              <a:rPr lang="en-US" sz="1600" dirty="0">
                <a:solidFill>
                  <a:schemeClr val="accent3">
                    <a:lumMod val="25000"/>
                  </a:schemeClr>
                </a:solidFill>
              </a:rPr>
              <a:t>• Encourages responsible AI adoption</a:t>
            </a:r>
          </a:p>
          <a:p>
            <a:r>
              <a:rPr lang="en-US" sz="1600" dirty="0">
                <a:solidFill>
                  <a:schemeClr val="accent3">
                    <a:lumMod val="25000"/>
                  </a:schemeClr>
                </a:solidFill>
              </a:rPr>
              <a:t>Real-World Applications</a:t>
            </a:r>
          </a:p>
          <a:p>
            <a:r>
              <a:rPr lang="en-US" sz="1600" dirty="0">
                <a:solidFill>
                  <a:schemeClr val="accent3">
                    <a:lumMod val="25000"/>
                  </a:schemeClr>
                </a:solidFill>
              </a:rPr>
              <a:t>Healthcare: Explaining medical diagnoses and treatment recommendations.</a:t>
            </a:r>
          </a:p>
          <a:p>
            <a:r>
              <a:rPr lang="en-US" sz="1600" dirty="0">
                <a:solidFill>
                  <a:schemeClr val="accent3">
                    <a:lumMod val="25000"/>
                  </a:schemeClr>
                </a:solidFill>
              </a:rPr>
              <a:t>Finance: Understanding loan approvals and fraud detection decisions.</a:t>
            </a:r>
          </a:p>
          <a:p>
            <a:r>
              <a:rPr lang="en-US" sz="1600" dirty="0">
                <a:solidFill>
                  <a:schemeClr val="accent3">
                    <a:lumMod val="25000"/>
                  </a:schemeClr>
                </a:solidFill>
              </a:rPr>
              <a:t>Legal Systems: Supporting fair and transparent decision-making.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6DA370-AEA9-D330-99D2-714C70201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160" y="2084206"/>
            <a:ext cx="6479097" cy="412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F42640-DAFD-4894-6A0D-653B7591537C}"/>
              </a:ext>
            </a:extLst>
          </p:cNvPr>
          <p:cNvSpPr txBox="1"/>
          <p:nvPr/>
        </p:nvSpPr>
        <p:spPr>
          <a:xfrm>
            <a:off x="1468814" y="503852"/>
            <a:ext cx="9808773" cy="14275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atin typeface="+mj-lt"/>
                <a:ea typeface="+mj-ea"/>
                <a:cs typeface="+mj-cs"/>
              </a:rPr>
              <a:t>Challenges in Explainability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EECA4-2658-9178-1AE5-647FF86D9D78}"/>
              </a:ext>
            </a:extLst>
          </p:cNvPr>
          <p:cNvSpPr txBox="1"/>
          <p:nvPr/>
        </p:nvSpPr>
        <p:spPr>
          <a:xfrm>
            <a:off x="1468815" y="2057401"/>
            <a:ext cx="3068678" cy="411946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marL="320040" indent="-320040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000"/>
              <a:t>Large language models such as GPT, Claude, Gemini, and LLaMA are powerful but difficult to interpret. Their decision-making processes are often hidden within billions of parameters.</a:t>
            </a:r>
          </a:p>
          <a:p>
            <a:pPr marL="320040" indent="-320040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000" b="1"/>
              <a:t>Key Challenges</a:t>
            </a:r>
          </a:p>
          <a:p>
            <a:pPr marL="320040" indent="-320040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000" b="1"/>
              <a:t>Black Box Nature</a:t>
            </a:r>
            <a:br>
              <a:rPr lang="en-US" sz="1000"/>
            </a:br>
            <a:r>
              <a:rPr lang="en-US" sz="1000"/>
              <a:t>AI models often produce outputs without clearly showing how decisions were made.</a:t>
            </a:r>
          </a:p>
          <a:p>
            <a:pPr marL="320040" indent="-320040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000" b="1"/>
              <a:t>Model Complexity</a:t>
            </a:r>
            <a:br>
              <a:rPr lang="en-US" sz="1000"/>
            </a:br>
            <a:r>
              <a:rPr lang="en-US" sz="1000"/>
              <a:t>Decisions emerge from complex interactions across many layers and parameters.</a:t>
            </a:r>
          </a:p>
          <a:p>
            <a:pPr marL="320040" indent="-320040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000" b="1"/>
              <a:t>Bias in Training Data</a:t>
            </a:r>
            <a:br>
              <a:rPr lang="en-US" sz="1000"/>
            </a:br>
            <a:r>
              <a:rPr lang="en-US" sz="1000"/>
              <a:t>Models may inherit biases, inaccuracies, and imbalances from training datasets.</a:t>
            </a:r>
          </a:p>
          <a:p>
            <a:pPr marL="320040" indent="-320040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000" b="1"/>
              <a:t>Post-Hoc Explanations</a:t>
            </a:r>
            <a:br>
              <a:rPr lang="en-US" sz="1000"/>
            </a:br>
            <a:r>
              <a:rPr lang="en-US" sz="1000"/>
              <a:t>Generated explanations may not accurately reflect the model’s true reasoning process.</a:t>
            </a:r>
          </a:p>
          <a:p>
            <a:pPr marL="320040" indent="-320040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000" b="1"/>
              <a:t>Regulatory Concerns</a:t>
            </a:r>
            <a:br>
              <a:rPr lang="en-US" sz="1000"/>
            </a:br>
            <a:r>
              <a:rPr lang="en-US" sz="1000"/>
              <a:t>Organizations must increasingly justify AI decisions to meet ethical and legal requirements.</a:t>
            </a:r>
          </a:p>
          <a:p>
            <a:pPr marL="320040" indent="-320040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</a:pP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F938A5-EB37-1950-7E96-889F4C47E6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1" r="14800" b="2"/>
          <a:stretch>
            <a:fillRect/>
          </a:stretch>
        </p:blipFill>
        <p:spPr>
          <a:xfrm>
            <a:off x="5191727" y="2057406"/>
            <a:ext cx="6085857" cy="4119453"/>
          </a:xfrm>
          <a:prstGeom prst="rect">
            <a:avLst/>
          </a:prstGeom>
          <a:noFill/>
        </p:spPr>
      </p:pic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B936E568-BAD9-CA77-1E67-2B77FCC430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792" y="0"/>
            <a:ext cx="9923770" cy="639661"/>
          </a:xfrm>
        </p:spPr>
        <p:txBody>
          <a:bodyPr>
            <a:normAutofit fontScale="90000"/>
          </a:bodyPr>
          <a:lstStyle/>
          <a:p>
            <a:r>
              <a:rPr lang="en-US" dirty="0"/>
              <a:t>Current Solutions and Explainability Techniques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542008-8017-76E5-ABC0-324010688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15068" y="639661"/>
            <a:ext cx="10838575" cy="37058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Researchers and technology companies are developing methods to improve AI transparency and trustworthiness.</a:t>
            </a:r>
          </a:p>
          <a:p>
            <a:r>
              <a:rPr lang="en-US" b="1" dirty="0"/>
              <a:t>Attention Visualization</a:t>
            </a:r>
          </a:p>
          <a:p>
            <a:r>
              <a:rPr lang="en-US" dirty="0"/>
              <a:t>Highlights which words or inputs have the greatest influence on model outputs.</a:t>
            </a:r>
          </a:p>
          <a:p>
            <a:r>
              <a:rPr lang="en-US" b="1" dirty="0"/>
              <a:t>Chain-of-Thought Prompting</a:t>
            </a:r>
          </a:p>
          <a:p>
            <a:r>
              <a:rPr lang="en-US" dirty="0"/>
              <a:t>Encourages step-by-step reasoning to make responses easier to understand.</a:t>
            </a:r>
          </a:p>
          <a:p>
            <a:r>
              <a:rPr lang="en-US" b="1" dirty="0"/>
              <a:t>Model Probing</a:t>
            </a:r>
          </a:p>
          <a:p>
            <a:r>
              <a:rPr lang="en-US" dirty="0"/>
              <a:t>Examines internal representations to better understand what the model has learned.</a:t>
            </a:r>
          </a:p>
          <a:p>
            <a:r>
              <a:rPr lang="en-US" b="1" dirty="0"/>
              <a:t>Explainability Dashboards</a:t>
            </a:r>
          </a:p>
          <a:p>
            <a:r>
              <a:rPr lang="en-US" dirty="0"/>
              <a:t>Provide visual tools that help users analyze and interpret AI behavior.</a:t>
            </a:r>
          </a:p>
          <a:p>
            <a:r>
              <a:rPr lang="en-US" b="1" dirty="0"/>
              <a:t>Industry Efforts</a:t>
            </a:r>
          </a:p>
          <a:p>
            <a:r>
              <a:rPr lang="en-US" b="1" dirty="0"/>
              <a:t>OpenAI:</a:t>
            </a:r>
            <a:r>
              <a:rPr lang="en-US" dirty="0"/>
              <a:t> Reasoning models, safety evaluations, and transparency research.</a:t>
            </a:r>
          </a:p>
          <a:p>
            <a:r>
              <a:rPr lang="en-US" b="1" dirty="0"/>
              <a:t>Google:</a:t>
            </a:r>
            <a:r>
              <a:rPr lang="en-US" dirty="0"/>
              <a:t> Model Cards and interpretability studies.</a:t>
            </a:r>
          </a:p>
          <a:p>
            <a:r>
              <a:rPr lang="en-US" b="1" dirty="0"/>
              <a:t>Meta:</a:t>
            </a:r>
            <a:r>
              <a:rPr lang="en-US" dirty="0"/>
              <a:t> </a:t>
            </a:r>
            <a:r>
              <a:rPr lang="en-US" dirty="0" err="1"/>
              <a:t>LLaMA</a:t>
            </a:r>
            <a:r>
              <a:rPr lang="en-US" dirty="0"/>
              <a:t> transparency and open research initiatives.</a:t>
            </a:r>
          </a:p>
          <a:p>
            <a:r>
              <a:rPr lang="en-US" b="1" dirty="0"/>
              <a:t>Anthropic:</a:t>
            </a:r>
            <a:r>
              <a:rPr lang="en-US" dirty="0"/>
              <a:t> Constitutional AI and alignment-focused research.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1BA863-613B-E203-A4FD-2805C1A16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211" y="3327808"/>
            <a:ext cx="321945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Validation and Performance Metrics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1442906"/>
            <a:ext cx="9732372" cy="4500695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Validation and performance metrics are essential for evaluating the reliability, fairness, and effectiveness of AI systems.</a:t>
            </a:r>
          </a:p>
          <a:p>
            <a:r>
              <a:rPr lang="en-US" b="1" dirty="0"/>
              <a:t>Common Performance Metrics</a:t>
            </a:r>
          </a:p>
          <a:p>
            <a:r>
              <a:rPr lang="en-US" b="1" dirty="0"/>
              <a:t>Accuracy:</a:t>
            </a:r>
            <a:r>
              <a:rPr lang="en-US" dirty="0"/>
              <a:t> Measures the percentage of correct predictions.</a:t>
            </a:r>
          </a:p>
          <a:p>
            <a:r>
              <a:rPr lang="en-US" b="1" dirty="0"/>
              <a:t>Precision:</a:t>
            </a:r>
            <a:r>
              <a:rPr lang="en-US" dirty="0"/>
              <a:t> Measures how many predicted positive results are actually correct.</a:t>
            </a:r>
          </a:p>
          <a:p>
            <a:r>
              <a:rPr lang="en-US" b="1" dirty="0"/>
              <a:t>Recall:</a:t>
            </a:r>
            <a:r>
              <a:rPr lang="en-US" dirty="0"/>
              <a:t> Measures how many relevant results were successfully identified.</a:t>
            </a:r>
          </a:p>
          <a:p>
            <a:r>
              <a:rPr lang="en-US" b="1" dirty="0"/>
              <a:t>F1 Score:</a:t>
            </a:r>
            <a:r>
              <a:rPr lang="en-US" dirty="0"/>
              <a:t> Provides a balance between precision and recall.</a:t>
            </a:r>
          </a:p>
          <a:p>
            <a:r>
              <a:rPr lang="en-US" b="1" dirty="0"/>
              <a:t>Hallucination Rate:</a:t>
            </a:r>
            <a:r>
              <a:rPr lang="en-US" dirty="0"/>
              <a:t> Measures how often AI generates false or misleading information.</a:t>
            </a:r>
          </a:p>
          <a:p>
            <a:r>
              <a:rPr lang="en-US" b="1" dirty="0"/>
              <a:t>Why Validation Matters</a:t>
            </a:r>
          </a:p>
          <a:p>
            <a:r>
              <a:rPr lang="en-US" dirty="0"/>
              <a:t>• Detects errors and weaknesses</a:t>
            </a:r>
          </a:p>
          <a:p>
            <a:r>
              <a:rPr lang="en-US" dirty="0"/>
              <a:t>• Improves reliability and consistency</a:t>
            </a:r>
          </a:p>
          <a:p>
            <a:r>
              <a:rPr lang="en-US" dirty="0"/>
              <a:t>• Supports accountability</a:t>
            </a:r>
          </a:p>
          <a:p>
            <a:r>
              <a:rPr lang="en-US" dirty="0"/>
              <a:t>• Builds user trust</a:t>
            </a:r>
          </a:p>
          <a:p>
            <a:r>
              <a:rPr lang="en-US" dirty="0"/>
              <a:t>• Enhances overall model performance</a:t>
            </a:r>
          </a:p>
          <a:p>
            <a:r>
              <a:rPr lang="en-US" b="1" dirty="0"/>
              <a:t>Conclusion</a:t>
            </a:r>
          </a:p>
          <a:p>
            <a:r>
              <a:rPr lang="en-US" b="1" dirty="0"/>
              <a:t>Explainability + Validation + Performance Metrics = Trustworthy AI</a:t>
            </a:r>
            <a:endParaRPr lang="en-US" dirty="0"/>
          </a:p>
          <a:p>
            <a:r>
              <a:rPr lang="en-US" dirty="0"/>
              <a:t>Transparent and well-validated AI systems improve trust, accountability, and responsible adoption across healthcare, finance, legal services, and many other industries.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233CF-6CC1-F0A9-81B6-34CFFAD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143" y="1669409"/>
            <a:ext cx="4035194" cy="374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{A98F1A1F-3A19-4B3F-A71F-27C54492621E}TF3977e381-cba5-49b1-ba43-b5d865517af907ebbda9_win32-372d4d6ae720</Template>
  <TotalTime>1012</TotalTime>
  <Words>496</Words>
  <Application>Microsoft Office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Tisa Offc Serif Pro</vt:lpstr>
      <vt:lpstr>Univers Light</vt:lpstr>
      <vt:lpstr>Custom</vt:lpstr>
      <vt:lpstr>Explainable AI (XAI): Transparency, Validation, and Trust in Large Language Models</vt:lpstr>
      <vt:lpstr>WHY EXPLAINABLE AI MATTERS</vt:lpstr>
      <vt:lpstr>PowerPoint Presentation</vt:lpstr>
      <vt:lpstr>Current Solutions and Explainability Techniques</vt:lpstr>
      <vt:lpstr>Validation and Performance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G</dc:creator>
  <cp:lastModifiedBy>J G</cp:lastModifiedBy>
  <cp:revision>1</cp:revision>
  <dcterms:created xsi:type="dcterms:W3CDTF">2026-06-07T07:19:09Z</dcterms:created>
  <dcterms:modified xsi:type="dcterms:W3CDTF">2026-06-08T00:11:10Z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